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7" r:id="rId4"/>
    <p:sldId id="263" r:id="rId5"/>
    <p:sldId id="264" r:id="rId6"/>
    <p:sldId id="262" r:id="rId7"/>
    <p:sldId id="270" r:id="rId8"/>
    <p:sldId id="260" r:id="rId9"/>
    <p:sldId id="265" r:id="rId10"/>
    <p:sldId id="268" r:id="rId11"/>
    <p:sldId id="269" r:id="rId12"/>
  </p:sldIdLst>
  <p:sldSz cx="14630400" cy="8229600"/>
  <p:notesSz cx="8229600" cy="14630400"/>
  <p:embeddedFontLst>
    <p:embeddedFont>
      <p:font typeface="Georgia" panose="02040502050405020303" pitchFamily="18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A292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81EAE2-61A7-4F9A-85C7-882BC84948F2}" type="doc">
      <dgm:prSet loTypeId="urn:microsoft.com/office/officeart/2005/8/layout/hProcess11" loCatId="process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4E238FFE-463E-496F-B5D7-2C0FFBC19C18}">
      <dgm:prSet custT="1"/>
      <dgm:spPr/>
      <dgm:t>
        <a:bodyPr/>
        <a:lstStyle/>
        <a:p>
          <a:r>
            <a:rPr lang="en-US" sz="1600" b="1" i="0" dirty="0">
              <a:latin typeface="Georgia" panose="02040502050405020303" pitchFamily="18" charset="0"/>
            </a:rPr>
            <a:t>Data Preprocessing</a:t>
          </a:r>
          <a:br>
            <a:rPr lang="en-US" sz="1600" i="0" dirty="0">
              <a:latin typeface="Georgia" panose="02040502050405020303" pitchFamily="18" charset="0"/>
            </a:rPr>
          </a:br>
          <a:r>
            <a:rPr lang="en-US" sz="1600" i="0" dirty="0">
              <a:latin typeface="Georgia" panose="02040502050405020303" pitchFamily="18" charset="0"/>
            </a:rPr>
            <a:t>Gene expression normalization and quality control across cell line dataset.</a:t>
          </a:r>
        </a:p>
      </dgm:t>
    </dgm:pt>
    <dgm:pt modelId="{F015D4F1-5CEA-4497-B080-B80065DAE6A1}" type="parTrans" cxnId="{36B02639-6042-48EF-85B5-4D697C8E990B}">
      <dgm:prSet/>
      <dgm:spPr/>
      <dgm:t>
        <a:bodyPr/>
        <a:lstStyle/>
        <a:p>
          <a:endParaRPr lang="en-US"/>
        </a:p>
      </dgm:t>
    </dgm:pt>
    <dgm:pt modelId="{3AB980AC-32B7-440A-9699-36A267F24641}" type="sibTrans" cxnId="{36B02639-6042-48EF-85B5-4D697C8E990B}">
      <dgm:prSet/>
      <dgm:spPr/>
      <dgm:t>
        <a:bodyPr/>
        <a:lstStyle/>
        <a:p>
          <a:endParaRPr lang="en-US"/>
        </a:p>
      </dgm:t>
    </dgm:pt>
    <dgm:pt modelId="{C94C59BF-1225-4854-AD48-5D3013B5AB94}">
      <dgm:prSet custT="1"/>
      <dgm:spPr/>
      <dgm:t>
        <a:bodyPr/>
        <a:lstStyle/>
        <a:p>
          <a:r>
            <a:rPr lang="en-US" sz="1600" b="1" i="0">
              <a:latin typeface="Georgia" panose="02040502050405020303" pitchFamily="18" charset="0"/>
            </a:rPr>
            <a:t>Subtype Assignment</a:t>
          </a:r>
          <a:br>
            <a:rPr lang="en-US" sz="1600" i="0">
              <a:latin typeface="Georgia" panose="02040502050405020303" pitchFamily="18" charset="0"/>
            </a:rPr>
          </a:br>
          <a:r>
            <a:rPr lang="en-US" sz="1600" i="0">
              <a:latin typeface="Georgia" panose="02040502050405020303" pitchFamily="18" charset="0"/>
            </a:rPr>
            <a:t>Z-score based classification using four key transcription factors.</a:t>
          </a:r>
        </a:p>
      </dgm:t>
    </dgm:pt>
    <dgm:pt modelId="{51A88B7D-1394-46AE-9DD4-C271C64511C6}" type="parTrans" cxnId="{C476331C-BC8E-4CA0-99E6-7E64CE77F775}">
      <dgm:prSet/>
      <dgm:spPr/>
      <dgm:t>
        <a:bodyPr/>
        <a:lstStyle/>
        <a:p>
          <a:endParaRPr lang="en-US"/>
        </a:p>
      </dgm:t>
    </dgm:pt>
    <dgm:pt modelId="{DF4025D6-2F1C-477A-AC18-1E92EC385441}" type="sibTrans" cxnId="{C476331C-BC8E-4CA0-99E6-7E64CE77F775}">
      <dgm:prSet/>
      <dgm:spPr/>
      <dgm:t>
        <a:bodyPr/>
        <a:lstStyle/>
        <a:p>
          <a:endParaRPr lang="en-US"/>
        </a:p>
      </dgm:t>
    </dgm:pt>
    <dgm:pt modelId="{5B3FF625-0F19-4937-AF72-764C030FD009}">
      <dgm:prSet custT="1"/>
      <dgm:spPr/>
      <dgm:t>
        <a:bodyPr/>
        <a:lstStyle/>
        <a:p>
          <a:r>
            <a:rPr lang="en-US" sz="1600" b="1" i="0">
              <a:latin typeface="Georgia" panose="02040502050405020303" pitchFamily="18" charset="0"/>
            </a:rPr>
            <a:t>Visualization</a:t>
          </a:r>
          <a:br>
            <a:rPr lang="en-US" sz="1600" i="0">
              <a:latin typeface="Georgia" panose="02040502050405020303" pitchFamily="18" charset="0"/>
            </a:rPr>
          </a:br>
          <a:r>
            <a:rPr lang="en-US" sz="1600" i="0">
              <a:latin typeface="Georgia" panose="02040502050405020303" pitchFamily="18" charset="0"/>
            </a:rPr>
            <a:t>Proportion analysis and distribution characterization.</a:t>
          </a:r>
        </a:p>
      </dgm:t>
    </dgm:pt>
    <dgm:pt modelId="{B9E2E6DD-19EC-483B-A754-14856DCC6765}" type="parTrans" cxnId="{F930EFB2-285B-4ED9-A8CA-1F9A06D6CD0B}">
      <dgm:prSet/>
      <dgm:spPr/>
      <dgm:t>
        <a:bodyPr/>
        <a:lstStyle/>
        <a:p>
          <a:endParaRPr lang="en-US"/>
        </a:p>
      </dgm:t>
    </dgm:pt>
    <dgm:pt modelId="{31CAAA81-0254-439B-8B86-2ED4E7FF0810}" type="sibTrans" cxnId="{F930EFB2-285B-4ED9-A8CA-1F9A06D6CD0B}">
      <dgm:prSet/>
      <dgm:spPr/>
      <dgm:t>
        <a:bodyPr/>
        <a:lstStyle/>
        <a:p>
          <a:endParaRPr lang="en-US"/>
        </a:p>
      </dgm:t>
    </dgm:pt>
    <dgm:pt modelId="{3FB3101C-DD45-4EAB-9447-E20533324C02}">
      <dgm:prSet custT="1"/>
      <dgm:spPr/>
      <dgm:t>
        <a:bodyPr/>
        <a:lstStyle/>
        <a:p>
          <a:r>
            <a:rPr lang="en-US" sz="1600" b="1" i="0">
              <a:latin typeface="Georgia" panose="02040502050405020303" pitchFamily="18" charset="0"/>
            </a:rPr>
            <a:t>Machine Learning</a:t>
          </a:r>
          <a:br>
            <a:rPr lang="en-US" sz="1600" i="0">
              <a:latin typeface="Georgia" panose="02040502050405020303" pitchFamily="18" charset="0"/>
            </a:rPr>
          </a:br>
          <a:r>
            <a:rPr lang="en-US" sz="1600" i="0">
              <a:latin typeface="Georgia" panose="02040502050405020303" pitchFamily="18" charset="0"/>
            </a:rPr>
            <a:t>Multiple models trained to validate subtype separability.</a:t>
          </a:r>
        </a:p>
      </dgm:t>
    </dgm:pt>
    <dgm:pt modelId="{BA618B39-23EA-43B1-B90B-CC5801BED44D}" type="parTrans" cxnId="{3A9AD57C-CDFB-4E17-AF1A-277005DDF8E6}">
      <dgm:prSet/>
      <dgm:spPr/>
      <dgm:t>
        <a:bodyPr/>
        <a:lstStyle/>
        <a:p>
          <a:endParaRPr lang="en-US"/>
        </a:p>
      </dgm:t>
    </dgm:pt>
    <dgm:pt modelId="{CE3EAAF2-1D4D-4BD0-BDA5-ED3B3BA99EC0}" type="sibTrans" cxnId="{3A9AD57C-CDFB-4E17-AF1A-277005DDF8E6}">
      <dgm:prSet/>
      <dgm:spPr/>
      <dgm:t>
        <a:bodyPr/>
        <a:lstStyle/>
        <a:p>
          <a:endParaRPr lang="en-US"/>
        </a:p>
      </dgm:t>
    </dgm:pt>
    <dgm:pt modelId="{8183F913-48FE-4487-BB92-09CB70D9FE7C}" type="pres">
      <dgm:prSet presAssocID="{3C81EAE2-61A7-4F9A-85C7-882BC84948F2}" presName="Name0" presStyleCnt="0">
        <dgm:presLayoutVars>
          <dgm:dir/>
          <dgm:resizeHandles val="exact"/>
        </dgm:presLayoutVars>
      </dgm:prSet>
      <dgm:spPr/>
    </dgm:pt>
    <dgm:pt modelId="{DB99E05E-797D-408F-88BA-A45316573C2B}" type="pres">
      <dgm:prSet presAssocID="{3C81EAE2-61A7-4F9A-85C7-882BC84948F2}" presName="arrow" presStyleLbl="bgShp" presStyleIdx="0" presStyleCnt="1"/>
      <dgm:spPr/>
    </dgm:pt>
    <dgm:pt modelId="{EBCF5BF2-B3BE-40B7-A333-C36C181D5CE0}" type="pres">
      <dgm:prSet presAssocID="{3C81EAE2-61A7-4F9A-85C7-882BC84948F2}" presName="points" presStyleCnt="0"/>
      <dgm:spPr/>
    </dgm:pt>
    <dgm:pt modelId="{034276E4-5721-49A1-81F3-FEFA1489F151}" type="pres">
      <dgm:prSet presAssocID="{4E238FFE-463E-496F-B5D7-2C0FFBC19C18}" presName="compositeA" presStyleCnt="0"/>
      <dgm:spPr/>
    </dgm:pt>
    <dgm:pt modelId="{577ADE33-049C-4159-99D6-D9DCFC8A3ECA}" type="pres">
      <dgm:prSet presAssocID="{4E238FFE-463E-496F-B5D7-2C0FFBC19C18}" presName="textA" presStyleLbl="revTx" presStyleIdx="0" presStyleCnt="4">
        <dgm:presLayoutVars>
          <dgm:bulletEnabled val="1"/>
        </dgm:presLayoutVars>
      </dgm:prSet>
      <dgm:spPr/>
    </dgm:pt>
    <dgm:pt modelId="{6D278505-1237-49F2-9B68-9BD22561E4D8}" type="pres">
      <dgm:prSet presAssocID="{4E238FFE-463E-496F-B5D7-2C0FFBC19C18}" presName="circleA" presStyleLbl="node1" presStyleIdx="0" presStyleCnt="4"/>
      <dgm:spPr/>
    </dgm:pt>
    <dgm:pt modelId="{4227C2D9-8FED-4DCB-A423-4FD17312E424}" type="pres">
      <dgm:prSet presAssocID="{4E238FFE-463E-496F-B5D7-2C0FFBC19C18}" presName="spaceA" presStyleCnt="0"/>
      <dgm:spPr/>
    </dgm:pt>
    <dgm:pt modelId="{9CA03434-E236-475C-8F6F-E9A43D492012}" type="pres">
      <dgm:prSet presAssocID="{3AB980AC-32B7-440A-9699-36A267F24641}" presName="space" presStyleCnt="0"/>
      <dgm:spPr/>
    </dgm:pt>
    <dgm:pt modelId="{701A7A86-9944-4FDC-AFBF-2F188F9BA2C0}" type="pres">
      <dgm:prSet presAssocID="{C94C59BF-1225-4854-AD48-5D3013B5AB94}" presName="compositeB" presStyleCnt="0"/>
      <dgm:spPr/>
    </dgm:pt>
    <dgm:pt modelId="{33E3CB72-974D-4840-AF68-D250DE2B6CF2}" type="pres">
      <dgm:prSet presAssocID="{C94C59BF-1225-4854-AD48-5D3013B5AB94}" presName="textB" presStyleLbl="revTx" presStyleIdx="1" presStyleCnt="4">
        <dgm:presLayoutVars>
          <dgm:bulletEnabled val="1"/>
        </dgm:presLayoutVars>
      </dgm:prSet>
      <dgm:spPr/>
    </dgm:pt>
    <dgm:pt modelId="{180BDE71-E839-4446-8A60-6B8A3A59BD70}" type="pres">
      <dgm:prSet presAssocID="{C94C59BF-1225-4854-AD48-5D3013B5AB94}" presName="circleB" presStyleLbl="node1" presStyleIdx="1" presStyleCnt="4"/>
      <dgm:spPr/>
    </dgm:pt>
    <dgm:pt modelId="{9EEC73FF-1CF6-4E6B-9FA6-F182E419B99D}" type="pres">
      <dgm:prSet presAssocID="{C94C59BF-1225-4854-AD48-5D3013B5AB94}" presName="spaceB" presStyleCnt="0"/>
      <dgm:spPr/>
    </dgm:pt>
    <dgm:pt modelId="{23E83246-461F-4F74-BF1D-691A4A6AA1EE}" type="pres">
      <dgm:prSet presAssocID="{DF4025D6-2F1C-477A-AC18-1E92EC385441}" presName="space" presStyleCnt="0"/>
      <dgm:spPr/>
    </dgm:pt>
    <dgm:pt modelId="{A561F2A9-5E2A-4F91-94B5-8CF23978E209}" type="pres">
      <dgm:prSet presAssocID="{5B3FF625-0F19-4937-AF72-764C030FD009}" presName="compositeA" presStyleCnt="0"/>
      <dgm:spPr/>
    </dgm:pt>
    <dgm:pt modelId="{05799D44-EFA4-4779-ADC5-C6D5D01CAE9C}" type="pres">
      <dgm:prSet presAssocID="{5B3FF625-0F19-4937-AF72-764C030FD009}" presName="textA" presStyleLbl="revTx" presStyleIdx="2" presStyleCnt="4">
        <dgm:presLayoutVars>
          <dgm:bulletEnabled val="1"/>
        </dgm:presLayoutVars>
      </dgm:prSet>
      <dgm:spPr/>
    </dgm:pt>
    <dgm:pt modelId="{84A351B2-6855-405F-992B-CCB4A6B241D7}" type="pres">
      <dgm:prSet presAssocID="{5B3FF625-0F19-4937-AF72-764C030FD009}" presName="circleA" presStyleLbl="node1" presStyleIdx="2" presStyleCnt="4"/>
      <dgm:spPr/>
    </dgm:pt>
    <dgm:pt modelId="{DAD05AA4-5EA7-42ED-9041-DC9AB927A0DA}" type="pres">
      <dgm:prSet presAssocID="{5B3FF625-0F19-4937-AF72-764C030FD009}" presName="spaceA" presStyleCnt="0"/>
      <dgm:spPr/>
    </dgm:pt>
    <dgm:pt modelId="{7C467737-039D-45D4-8DAF-668029D693BA}" type="pres">
      <dgm:prSet presAssocID="{31CAAA81-0254-439B-8B86-2ED4E7FF0810}" presName="space" presStyleCnt="0"/>
      <dgm:spPr/>
    </dgm:pt>
    <dgm:pt modelId="{0036C034-3A67-4F6D-B63B-F513F82FDA14}" type="pres">
      <dgm:prSet presAssocID="{3FB3101C-DD45-4EAB-9447-E20533324C02}" presName="compositeB" presStyleCnt="0"/>
      <dgm:spPr/>
    </dgm:pt>
    <dgm:pt modelId="{0CD00B84-ADD2-4B95-822B-EFEAEB7FBB63}" type="pres">
      <dgm:prSet presAssocID="{3FB3101C-DD45-4EAB-9447-E20533324C02}" presName="textB" presStyleLbl="revTx" presStyleIdx="3" presStyleCnt="4">
        <dgm:presLayoutVars>
          <dgm:bulletEnabled val="1"/>
        </dgm:presLayoutVars>
      </dgm:prSet>
      <dgm:spPr/>
    </dgm:pt>
    <dgm:pt modelId="{B6A683F5-3B04-46D9-84EA-0B5248744889}" type="pres">
      <dgm:prSet presAssocID="{3FB3101C-DD45-4EAB-9447-E20533324C02}" presName="circleB" presStyleLbl="node1" presStyleIdx="3" presStyleCnt="4"/>
      <dgm:spPr/>
    </dgm:pt>
    <dgm:pt modelId="{A879622E-9E05-4EBB-B6A5-14A24187C57A}" type="pres">
      <dgm:prSet presAssocID="{3FB3101C-DD45-4EAB-9447-E20533324C02}" presName="spaceB" presStyleCnt="0"/>
      <dgm:spPr/>
    </dgm:pt>
  </dgm:ptLst>
  <dgm:cxnLst>
    <dgm:cxn modelId="{C476331C-BC8E-4CA0-99E6-7E64CE77F775}" srcId="{3C81EAE2-61A7-4F9A-85C7-882BC84948F2}" destId="{C94C59BF-1225-4854-AD48-5D3013B5AB94}" srcOrd="1" destOrd="0" parTransId="{51A88B7D-1394-46AE-9DD4-C271C64511C6}" sibTransId="{DF4025D6-2F1C-477A-AC18-1E92EC385441}"/>
    <dgm:cxn modelId="{36B02639-6042-48EF-85B5-4D697C8E990B}" srcId="{3C81EAE2-61A7-4F9A-85C7-882BC84948F2}" destId="{4E238FFE-463E-496F-B5D7-2C0FFBC19C18}" srcOrd="0" destOrd="0" parTransId="{F015D4F1-5CEA-4497-B080-B80065DAE6A1}" sibTransId="{3AB980AC-32B7-440A-9699-36A267F24641}"/>
    <dgm:cxn modelId="{13B6173A-80C7-4C39-BE5A-457C673485F7}" type="presOf" srcId="{C94C59BF-1225-4854-AD48-5D3013B5AB94}" destId="{33E3CB72-974D-4840-AF68-D250DE2B6CF2}" srcOrd="0" destOrd="0" presId="urn:microsoft.com/office/officeart/2005/8/layout/hProcess11"/>
    <dgm:cxn modelId="{3A9AD57C-CDFB-4E17-AF1A-277005DDF8E6}" srcId="{3C81EAE2-61A7-4F9A-85C7-882BC84948F2}" destId="{3FB3101C-DD45-4EAB-9447-E20533324C02}" srcOrd="3" destOrd="0" parTransId="{BA618B39-23EA-43B1-B90B-CC5801BED44D}" sibTransId="{CE3EAAF2-1D4D-4BD0-BDA5-ED3B3BA99EC0}"/>
    <dgm:cxn modelId="{2358AF98-AC9D-4BFA-9336-3A6D3AFA32B8}" type="presOf" srcId="{3FB3101C-DD45-4EAB-9447-E20533324C02}" destId="{0CD00B84-ADD2-4B95-822B-EFEAEB7FBB63}" srcOrd="0" destOrd="0" presId="urn:microsoft.com/office/officeart/2005/8/layout/hProcess11"/>
    <dgm:cxn modelId="{A899D09B-D7C3-4E04-837C-91C5D168AD4D}" type="presOf" srcId="{5B3FF625-0F19-4937-AF72-764C030FD009}" destId="{05799D44-EFA4-4779-ADC5-C6D5D01CAE9C}" srcOrd="0" destOrd="0" presId="urn:microsoft.com/office/officeart/2005/8/layout/hProcess11"/>
    <dgm:cxn modelId="{F930EFB2-285B-4ED9-A8CA-1F9A06D6CD0B}" srcId="{3C81EAE2-61A7-4F9A-85C7-882BC84948F2}" destId="{5B3FF625-0F19-4937-AF72-764C030FD009}" srcOrd="2" destOrd="0" parTransId="{B9E2E6DD-19EC-483B-A754-14856DCC6765}" sibTransId="{31CAAA81-0254-439B-8B86-2ED4E7FF0810}"/>
    <dgm:cxn modelId="{2D6928EE-7811-4E66-ADD7-08CCDC7F15AD}" type="presOf" srcId="{4E238FFE-463E-496F-B5D7-2C0FFBC19C18}" destId="{577ADE33-049C-4159-99D6-D9DCFC8A3ECA}" srcOrd="0" destOrd="0" presId="urn:microsoft.com/office/officeart/2005/8/layout/hProcess11"/>
    <dgm:cxn modelId="{379457F3-1B02-4E6A-B29F-C97C39D8FF01}" type="presOf" srcId="{3C81EAE2-61A7-4F9A-85C7-882BC84948F2}" destId="{8183F913-48FE-4487-BB92-09CB70D9FE7C}" srcOrd="0" destOrd="0" presId="urn:microsoft.com/office/officeart/2005/8/layout/hProcess11"/>
    <dgm:cxn modelId="{3D95BF96-7419-47AC-A2A9-E146877474D2}" type="presParOf" srcId="{8183F913-48FE-4487-BB92-09CB70D9FE7C}" destId="{DB99E05E-797D-408F-88BA-A45316573C2B}" srcOrd="0" destOrd="0" presId="urn:microsoft.com/office/officeart/2005/8/layout/hProcess11"/>
    <dgm:cxn modelId="{4A865408-6737-4F72-9547-C4F70D15CC39}" type="presParOf" srcId="{8183F913-48FE-4487-BB92-09CB70D9FE7C}" destId="{EBCF5BF2-B3BE-40B7-A333-C36C181D5CE0}" srcOrd="1" destOrd="0" presId="urn:microsoft.com/office/officeart/2005/8/layout/hProcess11"/>
    <dgm:cxn modelId="{91E6350A-22FB-4250-AC5A-76F75110CDA7}" type="presParOf" srcId="{EBCF5BF2-B3BE-40B7-A333-C36C181D5CE0}" destId="{034276E4-5721-49A1-81F3-FEFA1489F151}" srcOrd="0" destOrd="0" presId="urn:microsoft.com/office/officeart/2005/8/layout/hProcess11"/>
    <dgm:cxn modelId="{7AE0CC7D-120F-4C9A-A64D-A0C05E1A2FBB}" type="presParOf" srcId="{034276E4-5721-49A1-81F3-FEFA1489F151}" destId="{577ADE33-049C-4159-99D6-D9DCFC8A3ECA}" srcOrd="0" destOrd="0" presId="urn:microsoft.com/office/officeart/2005/8/layout/hProcess11"/>
    <dgm:cxn modelId="{BA5FF568-06EE-47BA-A1D3-C8EAF0160799}" type="presParOf" srcId="{034276E4-5721-49A1-81F3-FEFA1489F151}" destId="{6D278505-1237-49F2-9B68-9BD22561E4D8}" srcOrd="1" destOrd="0" presId="urn:microsoft.com/office/officeart/2005/8/layout/hProcess11"/>
    <dgm:cxn modelId="{DBE55AB5-DCD6-4C26-BBCB-F0FADA61CEAD}" type="presParOf" srcId="{034276E4-5721-49A1-81F3-FEFA1489F151}" destId="{4227C2D9-8FED-4DCB-A423-4FD17312E424}" srcOrd="2" destOrd="0" presId="urn:microsoft.com/office/officeart/2005/8/layout/hProcess11"/>
    <dgm:cxn modelId="{905B5E19-6CA8-4AFE-BE7B-B7C381C689F2}" type="presParOf" srcId="{EBCF5BF2-B3BE-40B7-A333-C36C181D5CE0}" destId="{9CA03434-E236-475C-8F6F-E9A43D492012}" srcOrd="1" destOrd="0" presId="urn:microsoft.com/office/officeart/2005/8/layout/hProcess11"/>
    <dgm:cxn modelId="{1F6E6A0A-3B27-46FF-AFB6-7A45F6687425}" type="presParOf" srcId="{EBCF5BF2-B3BE-40B7-A333-C36C181D5CE0}" destId="{701A7A86-9944-4FDC-AFBF-2F188F9BA2C0}" srcOrd="2" destOrd="0" presId="urn:microsoft.com/office/officeart/2005/8/layout/hProcess11"/>
    <dgm:cxn modelId="{79AA81DC-22FE-40EF-89F2-F6931C1765B7}" type="presParOf" srcId="{701A7A86-9944-4FDC-AFBF-2F188F9BA2C0}" destId="{33E3CB72-974D-4840-AF68-D250DE2B6CF2}" srcOrd="0" destOrd="0" presId="urn:microsoft.com/office/officeart/2005/8/layout/hProcess11"/>
    <dgm:cxn modelId="{C797CBFE-91AD-4BA9-83AD-35E77A243FFA}" type="presParOf" srcId="{701A7A86-9944-4FDC-AFBF-2F188F9BA2C0}" destId="{180BDE71-E839-4446-8A60-6B8A3A59BD70}" srcOrd="1" destOrd="0" presId="urn:microsoft.com/office/officeart/2005/8/layout/hProcess11"/>
    <dgm:cxn modelId="{F506EBB5-99AF-48D0-9DB0-84A090B76805}" type="presParOf" srcId="{701A7A86-9944-4FDC-AFBF-2F188F9BA2C0}" destId="{9EEC73FF-1CF6-4E6B-9FA6-F182E419B99D}" srcOrd="2" destOrd="0" presId="urn:microsoft.com/office/officeart/2005/8/layout/hProcess11"/>
    <dgm:cxn modelId="{A6D981B9-A316-43C4-9680-026F8EECB89A}" type="presParOf" srcId="{EBCF5BF2-B3BE-40B7-A333-C36C181D5CE0}" destId="{23E83246-461F-4F74-BF1D-691A4A6AA1EE}" srcOrd="3" destOrd="0" presId="urn:microsoft.com/office/officeart/2005/8/layout/hProcess11"/>
    <dgm:cxn modelId="{D5101297-A393-4A16-8884-7407B4A8A6FE}" type="presParOf" srcId="{EBCF5BF2-B3BE-40B7-A333-C36C181D5CE0}" destId="{A561F2A9-5E2A-4F91-94B5-8CF23978E209}" srcOrd="4" destOrd="0" presId="urn:microsoft.com/office/officeart/2005/8/layout/hProcess11"/>
    <dgm:cxn modelId="{91291848-E9D7-44DD-B1BB-8F2C0AEAD016}" type="presParOf" srcId="{A561F2A9-5E2A-4F91-94B5-8CF23978E209}" destId="{05799D44-EFA4-4779-ADC5-C6D5D01CAE9C}" srcOrd="0" destOrd="0" presId="urn:microsoft.com/office/officeart/2005/8/layout/hProcess11"/>
    <dgm:cxn modelId="{5EEE1484-5C50-4DDE-8B01-087C5BAEF3DF}" type="presParOf" srcId="{A561F2A9-5E2A-4F91-94B5-8CF23978E209}" destId="{84A351B2-6855-405F-992B-CCB4A6B241D7}" srcOrd="1" destOrd="0" presId="urn:microsoft.com/office/officeart/2005/8/layout/hProcess11"/>
    <dgm:cxn modelId="{9036256D-FB81-4ADC-9737-5A6A610F532C}" type="presParOf" srcId="{A561F2A9-5E2A-4F91-94B5-8CF23978E209}" destId="{DAD05AA4-5EA7-42ED-9041-DC9AB927A0DA}" srcOrd="2" destOrd="0" presId="urn:microsoft.com/office/officeart/2005/8/layout/hProcess11"/>
    <dgm:cxn modelId="{5BFC6A83-3C4C-4094-9364-3FFE632F9318}" type="presParOf" srcId="{EBCF5BF2-B3BE-40B7-A333-C36C181D5CE0}" destId="{7C467737-039D-45D4-8DAF-668029D693BA}" srcOrd="5" destOrd="0" presId="urn:microsoft.com/office/officeart/2005/8/layout/hProcess11"/>
    <dgm:cxn modelId="{66BB0D52-22E3-4981-BFDF-B28640EDEFA0}" type="presParOf" srcId="{EBCF5BF2-B3BE-40B7-A333-C36C181D5CE0}" destId="{0036C034-3A67-4F6D-B63B-F513F82FDA14}" srcOrd="6" destOrd="0" presId="urn:microsoft.com/office/officeart/2005/8/layout/hProcess11"/>
    <dgm:cxn modelId="{6ED15D4D-8E99-49C2-AD45-C88EACDF2E20}" type="presParOf" srcId="{0036C034-3A67-4F6D-B63B-F513F82FDA14}" destId="{0CD00B84-ADD2-4B95-822B-EFEAEB7FBB63}" srcOrd="0" destOrd="0" presId="urn:microsoft.com/office/officeart/2005/8/layout/hProcess11"/>
    <dgm:cxn modelId="{D7B736E1-F552-4D9F-B0C5-E37A63C63B99}" type="presParOf" srcId="{0036C034-3A67-4F6D-B63B-F513F82FDA14}" destId="{B6A683F5-3B04-46D9-84EA-0B5248744889}" srcOrd="1" destOrd="0" presId="urn:microsoft.com/office/officeart/2005/8/layout/hProcess11"/>
    <dgm:cxn modelId="{27A5DB8E-BE3B-42FA-BE0F-635F0F506DFC}" type="presParOf" srcId="{0036C034-3A67-4F6D-B63B-F513F82FDA14}" destId="{A879622E-9E05-4EBB-B6A5-14A24187C57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9E05E-797D-408F-88BA-A45316573C2B}">
      <dsp:nvSpPr>
        <dsp:cNvPr id="0" name=""/>
        <dsp:cNvSpPr/>
      </dsp:nvSpPr>
      <dsp:spPr>
        <a:xfrm>
          <a:off x="0" y="1115698"/>
          <a:ext cx="12617449" cy="1487598"/>
        </a:xfrm>
        <a:prstGeom prst="notched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7ADE33-049C-4159-99D6-D9DCFC8A3ECA}">
      <dsp:nvSpPr>
        <dsp:cNvPr id="0" name=""/>
        <dsp:cNvSpPr/>
      </dsp:nvSpPr>
      <dsp:spPr>
        <a:xfrm>
          <a:off x="5683" y="0"/>
          <a:ext cx="2733575" cy="1487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latin typeface="Georgia" panose="02040502050405020303" pitchFamily="18" charset="0"/>
            </a:rPr>
            <a:t>Data Preprocessing</a:t>
          </a:r>
          <a:br>
            <a:rPr lang="en-US" sz="1600" i="0" kern="1200" dirty="0">
              <a:latin typeface="Georgia" panose="02040502050405020303" pitchFamily="18" charset="0"/>
            </a:rPr>
          </a:br>
          <a:r>
            <a:rPr lang="en-US" sz="1600" i="0" kern="1200" dirty="0">
              <a:latin typeface="Georgia" panose="02040502050405020303" pitchFamily="18" charset="0"/>
            </a:rPr>
            <a:t>Gene expression normalization and quality control across cell line dataset.</a:t>
          </a:r>
        </a:p>
      </dsp:txBody>
      <dsp:txXfrm>
        <a:off x="5683" y="0"/>
        <a:ext cx="2733575" cy="1487598"/>
      </dsp:txXfrm>
    </dsp:sp>
    <dsp:sp modelId="{6D278505-1237-49F2-9B68-9BD22561E4D8}">
      <dsp:nvSpPr>
        <dsp:cNvPr id="0" name=""/>
        <dsp:cNvSpPr/>
      </dsp:nvSpPr>
      <dsp:spPr>
        <a:xfrm>
          <a:off x="1186521" y="1673547"/>
          <a:ext cx="371899" cy="37189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3CB72-974D-4840-AF68-D250DE2B6CF2}">
      <dsp:nvSpPr>
        <dsp:cNvPr id="0" name=""/>
        <dsp:cNvSpPr/>
      </dsp:nvSpPr>
      <dsp:spPr>
        <a:xfrm>
          <a:off x="2875937" y="2231397"/>
          <a:ext cx="2733575" cy="1487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Georgia" panose="02040502050405020303" pitchFamily="18" charset="0"/>
            </a:rPr>
            <a:t>Subtype Assignment</a:t>
          </a:r>
          <a:br>
            <a:rPr lang="en-US" sz="1600" i="0" kern="1200">
              <a:latin typeface="Georgia" panose="02040502050405020303" pitchFamily="18" charset="0"/>
            </a:rPr>
          </a:br>
          <a:r>
            <a:rPr lang="en-US" sz="1600" i="0" kern="1200">
              <a:latin typeface="Georgia" panose="02040502050405020303" pitchFamily="18" charset="0"/>
            </a:rPr>
            <a:t>Z-score based classification using four key transcription factors.</a:t>
          </a:r>
        </a:p>
      </dsp:txBody>
      <dsp:txXfrm>
        <a:off x="2875937" y="2231397"/>
        <a:ext cx="2733575" cy="1487598"/>
      </dsp:txXfrm>
    </dsp:sp>
    <dsp:sp modelId="{180BDE71-E839-4446-8A60-6B8A3A59BD70}">
      <dsp:nvSpPr>
        <dsp:cNvPr id="0" name=""/>
        <dsp:cNvSpPr/>
      </dsp:nvSpPr>
      <dsp:spPr>
        <a:xfrm>
          <a:off x="4056775" y="1673547"/>
          <a:ext cx="371899" cy="37189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99D44-EFA4-4779-ADC5-C6D5D01CAE9C}">
      <dsp:nvSpPr>
        <dsp:cNvPr id="0" name=""/>
        <dsp:cNvSpPr/>
      </dsp:nvSpPr>
      <dsp:spPr>
        <a:xfrm>
          <a:off x="5746191" y="0"/>
          <a:ext cx="2733575" cy="1487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Georgia" panose="02040502050405020303" pitchFamily="18" charset="0"/>
            </a:rPr>
            <a:t>Visualization</a:t>
          </a:r>
          <a:br>
            <a:rPr lang="en-US" sz="1600" i="0" kern="1200">
              <a:latin typeface="Georgia" panose="02040502050405020303" pitchFamily="18" charset="0"/>
            </a:rPr>
          </a:br>
          <a:r>
            <a:rPr lang="en-US" sz="1600" i="0" kern="1200">
              <a:latin typeface="Georgia" panose="02040502050405020303" pitchFamily="18" charset="0"/>
            </a:rPr>
            <a:t>Proportion analysis and distribution characterization.</a:t>
          </a:r>
        </a:p>
      </dsp:txBody>
      <dsp:txXfrm>
        <a:off x="5746191" y="0"/>
        <a:ext cx="2733575" cy="1487598"/>
      </dsp:txXfrm>
    </dsp:sp>
    <dsp:sp modelId="{84A351B2-6855-405F-992B-CCB4A6B241D7}">
      <dsp:nvSpPr>
        <dsp:cNvPr id="0" name=""/>
        <dsp:cNvSpPr/>
      </dsp:nvSpPr>
      <dsp:spPr>
        <a:xfrm>
          <a:off x="6927029" y="1673547"/>
          <a:ext cx="371899" cy="37189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00B84-ADD2-4B95-822B-EFEAEB7FBB63}">
      <dsp:nvSpPr>
        <dsp:cNvPr id="0" name=""/>
        <dsp:cNvSpPr/>
      </dsp:nvSpPr>
      <dsp:spPr>
        <a:xfrm>
          <a:off x="8616445" y="2231397"/>
          <a:ext cx="2733575" cy="1487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Georgia" panose="02040502050405020303" pitchFamily="18" charset="0"/>
            </a:rPr>
            <a:t>Machine Learning</a:t>
          </a:r>
          <a:br>
            <a:rPr lang="en-US" sz="1600" i="0" kern="1200">
              <a:latin typeface="Georgia" panose="02040502050405020303" pitchFamily="18" charset="0"/>
            </a:rPr>
          </a:br>
          <a:r>
            <a:rPr lang="en-US" sz="1600" i="0" kern="1200">
              <a:latin typeface="Georgia" panose="02040502050405020303" pitchFamily="18" charset="0"/>
            </a:rPr>
            <a:t>Multiple models trained to validate subtype separability.</a:t>
          </a:r>
        </a:p>
      </dsp:txBody>
      <dsp:txXfrm>
        <a:off x="8616445" y="2231397"/>
        <a:ext cx="2733575" cy="1487598"/>
      </dsp:txXfrm>
    </dsp:sp>
    <dsp:sp modelId="{B6A683F5-3B04-46D9-84EA-0B5248744889}">
      <dsp:nvSpPr>
        <dsp:cNvPr id="0" name=""/>
        <dsp:cNvSpPr/>
      </dsp:nvSpPr>
      <dsp:spPr>
        <a:xfrm>
          <a:off x="9797283" y="1673547"/>
          <a:ext cx="371899" cy="37189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11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Role of the MYC Family in Small-Cell Lung Cancer (SCLC)
Layout: Three columns — Described, Derived, Therapeutic Link.
Design style: Scientific, clean, professional. Use light backgrounds with gene symbols in bold, and include icons or small visuals for each column.
Column 1 – Described in Paper:
The MYC family includes three oncogenes — MYC, MYCL, and MYCN — that regulate cell growth and metabolism.
Frequent amplification observed in SCLC; one of the most consistent genomic findings.
Distinct subtype associations:
MYCL → ASCL1-high (SCLC-A)
MYC → NEUROD1-high (SCLC-N)
MYCN → rare, neural-like tumors
Indicates that MYC genes define the tumor’s biological identity.
(Add a small heatmap or bar chart image placeholder showing MYCL high in SCLC-A and MYC high in SCLC-N.)
Column 2 – Derived Findings:
Mouse model (GEMM) experiments showed that activating MycT58A pushes tumors to shift from ASCL1-high to NEUROD1-high, proving MYC drives subtype transition.
MYCL marks slower, neuroendocrine subtypes; MYC marks faster, aggressive variants.
Derived a hierarchical model: tumors can evolve from MYCL/ASCL1-high → MYC/NEUROD1-high over time.
(Add a flow arrow graphic: “ASCL1-high (MYCL) → NEUROD1-high (MYC)” with caption “MYC drives evolution.”)
Column 3 – Therapeutic Link:
MYC-high tumors are more sensitive to Aurora Kinase A inhibitors (e.g., alisertib).
Demonstrates MYC as both a diagnostic marker and a predictive biomarker for drug response.
Supports future subtype-specific, MYC-targeted therapy development.
(Add a simple comparison chart showing higher drug response in MYC-high tumors.)
Footer / Citation:Source: Rudin et al., Nature Reviews Cancer (2019) — “Molecular subtypes of small cell lung cancer: a synthesis of human and mouse model data.”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319" y="816293"/>
            <a:ext cx="4947761" cy="65970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744022"/>
            <a:ext cx="7556421" cy="932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00"/>
              </a:lnSpc>
              <a:buNone/>
            </a:pPr>
            <a:r>
              <a:rPr lang="en-US" sz="4400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Molecular Subtypes of SCLC</a:t>
            </a:r>
            <a:endParaRPr lang="en-US" sz="4400" dirty="0"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3790" y="1676043"/>
            <a:ext cx="75564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Group 10 | Aditi Deshmukh | Pranali Chipkar | Siddharth Pawar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793788" y="2228731"/>
            <a:ext cx="7556421" cy="34528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93787" y="3093503"/>
            <a:ext cx="7556421" cy="298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Small Cell Lung Cancer (SCLC)</a:t>
            </a: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 is one of the most aggressive malignancies, known for rapid progression and limited treatment options.</a:t>
            </a:r>
          </a:p>
          <a:p>
            <a:pPr marL="285750" indent="-28575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For decades, clinicians treated SCLC as a single disease. The 2019 study by </a:t>
            </a: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Rudin et al. (Nature Reviews Cancer)</a:t>
            </a: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 redefined this view — identifying </a:t>
            </a: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four molecular subtypes</a:t>
            </a: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 driven by key transcription factors: </a:t>
            </a: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ASCL1, NEUROD1, YAP1, and POU2F3</a:t>
            </a: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.</a:t>
            </a:r>
          </a:p>
          <a:p>
            <a:pPr marL="285750" indent="-28575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This discovery paved the way for </a:t>
            </a: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precision oncology</a:t>
            </a: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 and subtype-specific therapies.</a:t>
            </a:r>
            <a:endParaRPr lang="en-US" sz="1600" dirty="0">
              <a:latin typeface="Georgia" panose="02040502050405020303" pitchFamily="18" charset="0"/>
            </a:endParaRPr>
          </a:p>
          <a:p>
            <a:pPr algn="just">
              <a:lnSpc>
                <a:spcPts val="2700"/>
              </a:lnSpc>
            </a:pPr>
            <a:endParaRPr lang="en-US" sz="1650" dirty="0">
              <a:latin typeface="Georgia" panose="02040502050405020303" pitchFamily="18" charset="0"/>
            </a:endParaRPr>
          </a:p>
          <a:p>
            <a:pPr marL="0" indent="0" algn="just">
              <a:lnSpc>
                <a:spcPts val="2700"/>
              </a:lnSpc>
              <a:buNone/>
            </a:pPr>
            <a:endParaRPr lang="en-US" sz="1650" dirty="0">
              <a:latin typeface="Georgia" panose="02040502050405020303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93790" y="6795968"/>
            <a:ext cx="75564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916450" y="2050345"/>
            <a:ext cx="12797500" cy="4188530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  <p:txBody>
          <a:bodyPr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Georgia" panose="02040502050405020303" pitchFamily="18" charset="0"/>
              </a:rPr>
              <a:t>Objective:</a:t>
            </a:r>
            <a:endParaRPr lang="en-US" sz="1600" dirty="0">
              <a:latin typeface="Georgia" panose="02040502050405020303" pitchFamily="18" charset="0"/>
            </a:endParaRPr>
          </a:p>
          <a:p>
            <a:pPr>
              <a:lnSpc>
                <a:spcPts val="2850"/>
              </a:lnSpc>
            </a:pPr>
            <a:r>
              <a:rPr lang="en-US" sz="1600" dirty="0">
                <a:latin typeface="Georgia" panose="02040502050405020303" pitchFamily="18" charset="0"/>
              </a:rPr>
              <a:t>To group small-cell lung cancer (SCLC) into four subtypes based on key transcription factors. Each subtype shows unique biological characteristics and potential treatment responses</a:t>
            </a:r>
          </a:p>
          <a:p>
            <a:pPr>
              <a:lnSpc>
                <a:spcPts val="2850"/>
              </a:lnSpc>
            </a:pP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Georgia" panose="02040502050405020303" pitchFamily="18" charset="0"/>
              </a:rPr>
              <a:t>Data Integration: </a:t>
            </a:r>
          </a:p>
          <a:p>
            <a:pPr>
              <a:lnSpc>
                <a:spcPts val="2850"/>
              </a:lnSpc>
            </a:pPr>
            <a:r>
              <a:rPr lang="en-US" sz="1600" dirty="0">
                <a:latin typeface="Georgia" panose="02040502050405020303" pitchFamily="18" charset="0"/>
              </a:rPr>
              <a:t>We used large-scale gene expression data from multiple SCLC cell lines and tumor samples to identify consistent molecular patterns</a:t>
            </a:r>
          </a:p>
          <a:p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Georgia" panose="02040502050405020303" pitchFamily="18" charset="0"/>
              </a:rPr>
              <a:t>Validation:</a:t>
            </a:r>
          </a:p>
          <a:p>
            <a:pPr>
              <a:lnSpc>
                <a:spcPts val="2850"/>
              </a:lnSpc>
            </a:pPr>
            <a:r>
              <a:rPr lang="en-US" sz="1600" dirty="0">
                <a:latin typeface="Georgia" panose="02040502050405020303" pitchFamily="18" charset="0"/>
              </a:rPr>
              <a:t>We compared our subtype classifications with clinical and pathological information to confirm their accuracy and identify potential treatment targets for each subtype</a:t>
            </a:r>
          </a:p>
          <a:p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916450" y="798969"/>
            <a:ext cx="12797501" cy="66901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200" dirty="0">
                <a:solidFill>
                  <a:srgbClr val="201B18"/>
                </a:solidFill>
                <a:latin typeface="Georgia" panose="02040502050405020303" pitchFamily="18" charset="0"/>
                <a:cs typeface="Platypi Medium" pitchFamily="34" charset="-120"/>
              </a:rPr>
              <a:t>Research</a:t>
            </a:r>
            <a:r>
              <a:rPr lang="en-US" sz="3200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 Objective &amp; Methodology</a:t>
            </a:r>
            <a:endParaRPr lang="en-US" sz="3200" dirty="0">
              <a:latin typeface="Georgia" panose="02040502050405020303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C419C3-E774-8EC7-8E86-0A54634C847B}"/>
              </a:ext>
            </a:extLst>
          </p:cNvPr>
          <p:cNvSpPr/>
          <p:nvPr/>
        </p:nvSpPr>
        <p:spPr>
          <a:xfrm>
            <a:off x="12782550" y="7743825"/>
            <a:ext cx="1847850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3A69D8E-8C8F-0DCB-BFBF-1C4F8C15D2C5}"/>
              </a:ext>
            </a:extLst>
          </p:cNvPr>
          <p:cNvSpPr txBox="1"/>
          <p:nvPr/>
        </p:nvSpPr>
        <p:spPr>
          <a:xfrm>
            <a:off x="796892" y="589029"/>
            <a:ext cx="12617450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Evolution in Understanding Small-Cell Lung Cancer (SCLC):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0DA0C66-044D-A8A4-1768-8148A9524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587047"/>
              </p:ext>
            </p:extLst>
          </p:nvPr>
        </p:nvGraphicFramePr>
        <p:xfrm>
          <a:off x="796891" y="1487205"/>
          <a:ext cx="12617450" cy="1816435"/>
        </p:xfrm>
        <a:graphic>
          <a:graphicData uri="http://schemas.openxmlformats.org/drawingml/2006/table">
            <a:tbl>
              <a:tblPr/>
              <a:tblGrid>
                <a:gridCol w="6308725">
                  <a:extLst>
                    <a:ext uri="{9D8B030D-6E8A-4147-A177-3AD203B41FA5}">
                      <a16:colId xmlns:a16="http://schemas.microsoft.com/office/drawing/2014/main" val="1451637775"/>
                    </a:ext>
                  </a:extLst>
                </a:gridCol>
                <a:gridCol w="6308725">
                  <a:extLst>
                    <a:ext uri="{9D8B030D-6E8A-4147-A177-3AD203B41FA5}">
                      <a16:colId xmlns:a16="http://schemas.microsoft.com/office/drawing/2014/main" val="1021929043"/>
                    </a:ext>
                  </a:extLst>
                </a:gridCol>
              </a:tblGrid>
              <a:tr h="36328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i="0" dirty="0">
                          <a:latin typeface="Georgia" panose="02040502050405020303" pitchFamily="18" charset="0"/>
                        </a:rPr>
                        <a:t>Traditional Approach</a:t>
                      </a:r>
                      <a:endParaRPr lang="en-US" sz="1400" i="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i="0" dirty="0">
                          <a:latin typeface="Georgia" panose="02040502050405020303" pitchFamily="18" charset="0"/>
                        </a:rPr>
                        <a:t>Modern Understanding</a:t>
                      </a:r>
                      <a:endParaRPr lang="en-US" sz="1400" i="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554200"/>
                  </a:ext>
                </a:extLst>
              </a:tr>
              <a:tr h="3632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>
                          <a:latin typeface="Georgia" panose="02040502050405020303" pitchFamily="18" charset="0"/>
                        </a:rPr>
                        <a:t>SCLC treated as single disease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>
                          <a:latin typeface="Georgia" panose="02040502050405020303" pitchFamily="18" charset="0"/>
                        </a:rPr>
                        <a:t>Four distinct molecular subtypes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570947"/>
                  </a:ext>
                </a:extLst>
              </a:tr>
              <a:tr h="3632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>
                          <a:latin typeface="Georgia" panose="02040502050405020303" pitchFamily="18" charset="0"/>
                        </a:rPr>
                        <a:t>Uniform chemotherapy protocols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>
                          <a:latin typeface="Georgia" panose="02040502050405020303" pitchFamily="18" charset="0"/>
                        </a:rPr>
                        <a:t>Subtype-specific biology and markers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856066"/>
                  </a:ext>
                </a:extLst>
              </a:tr>
              <a:tr h="3632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>
                          <a:latin typeface="Georgia" panose="02040502050405020303" pitchFamily="18" charset="0"/>
                        </a:rPr>
                        <a:t>Limited personalization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>
                          <a:latin typeface="Georgia" panose="02040502050405020303" pitchFamily="18" charset="0"/>
                        </a:rPr>
                        <a:t>Precision therapeutic targeting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291975"/>
                  </a:ext>
                </a:extLst>
              </a:tr>
              <a:tr h="3632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>
                          <a:latin typeface="Georgia" panose="02040502050405020303" pitchFamily="18" charset="0"/>
                        </a:rPr>
                        <a:t>Poor treatment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>
                          <a:latin typeface="Georgia" panose="02040502050405020303" pitchFamily="18" charset="0"/>
                        </a:rPr>
                        <a:t>Improved clinical outcomes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205600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9A46D946-EC1C-085F-A4F4-A438D7429B5D}"/>
              </a:ext>
            </a:extLst>
          </p:cNvPr>
          <p:cNvSpPr/>
          <p:nvPr/>
        </p:nvSpPr>
        <p:spPr>
          <a:xfrm>
            <a:off x="12867588" y="7701699"/>
            <a:ext cx="1762812" cy="527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1923FE49-E6B2-C3C3-62F6-A209454257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2448121"/>
              </p:ext>
            </p:extLst>
          </p:nvPr>
        </p:nvGraphicFramePr>
        <p:xfrm>
          <a:off x="796892" y="4151952"/>
          <a:ext cx="12617449" cy="3718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1" name="Text 0"/>
          <p:cNvSpPr/>
          <p:nvPr/>
        </p:nvSpPr>
        <p:spPr>
          <a:xfrm>
            <a:off x="796892" y="3567942"/>
            <a:ext cx="28130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2400" u="sng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 Implementation: </a:t>
            </a:r>
            <a:endParaRPr lang="en-US" sz="2400" u="sng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2024" y="704850"/>
            <a:ext cx="12544425" cy="704850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200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Subtype Classification Approach</a:t>
            </a:r>
            <a:endParaRPr lang="en-US" sz="3200" dirty="0">
              <a:latin typeface="Georgia" panose="02040502050405020303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18CD31-B4DF-DBAC-AAFF-AEB4A5775936}"/>
              </a:ext>
            </a:extLst>
          </p:cNvPr>
          <p:cNvSpPr/>
          <p:nvPr/>
        </p:nvSpPr>
        <p:spPr>
          <a:xfrm>
            <a:off x="12753975" y="7743825"/>
            <a:ext cx="1876425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AE9622-CBDE-0619-FBAD-63B0CB1A6971}"/>
              </a:ext>
            </a:extLst>
          </p:cNvPr>
          <p:cNvSpPr txBox="1"/>
          <p:nvPr/>
        </p:nvSpPr>
        <p:spPr>
          <a:xfrm>
            <a:off x="962025" y="1813263"/>
            <a:ext cx="8515350" cy="2696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Georgia" panose="02040502050405020303" pitchFamily="18" charset="0"/>
              </a:rPr>
              <a:t>Classification Logic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500" b="1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Georgia" panose="02040502050405020303" pitchFamily="18" charset="0"/>
              </a:rPr>
              <a:t>Calculate Z-scores for ASCL1, NEUROD1, YAP1, and POU2F3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Georgia" panose="02040502050405020303" pitchFamily="18" charset="0"/>
              </a:rPr>
              <a:t>Assign subtype based on highest raw expression value (</a:t>
            </a:r>
            <a:r>
              <a:rPr lang="en-US" b="1" dirty="0">
                <a:latin typeface="Georgia" panose="02040502050405020303" pitchFamily="18" charset="0"/>
              </a:rPr>
              <a:t>TF-Max Rule</a:t>
            </a:r>
            <a:r>
              <a:rPr lang="en-US" dirty="0">
                <a:latin typeface="Georgia" panose="02040502050405020303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Georgia" panose="02040502050405020303" pitchFamily="18" charset="0"/>
              </a:rPr>
              <a:t>Alternatively, assign subtype based on highest Z-score (</a:t>
            </a:r>
            <a:r>
              <a:rPr lang="en-US" b="1" dirty="0">
                <a:latin typeface="Georgia" panose="02040502050405020303" pitchFamily="18" charset="0"/>
              </a:rPr>
              <a:t>Z-Rule</a:t>
            </a:r>
            <a:r>
              <a:rPr lang="en-US" dirty="0">
                <a:latin typeface="Georgia" panose="02040502050405020303" pitchFamily="18" charset="0"/>
              </a:rPr>
              <a:t>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Georgia" panose="02040502050405020303" pitchFamily="18" charset="0"/>
              </a:rPr>
              <a:t>Apply threshold filtering to ensure classification confidence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Georgia" panose="02040502050405020303" pitchFamily="18" charset="0"/>
              </a:rPr>
              <a:t>Filter genes with low variance to remove noise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6C3365-1819-874B-2081-76A196D9A69D}"/>
              </a:ext>
            </a:extLst>
          </p:cNvPr>
          <p:cNvSpPr txBox="1"/>
          <p:nvPr/>
        </p:nvSpPr>
        <p:spPr>
          <a:xfrm>
            <a:off x="8588310" y="4931662"/>
            <a:ext cx="5108640" cy="2304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u="sng" dirty="0">
                <a:latin typeface="Georgia" panose="02040502050405020303" pitchFamily="18" charset="0"/>
              </a:rPr>
              <a:t>Quality Metrics</a:t>
            </a:r>
          </a:p>
          <a:p>
            <a:pPr>
              <a:lnSpc>
                <a:spcPct val="150000"/>
              </a:lnSpc>
              <a:buNone/>
            </a:pPr>
            <a:endParaRPr lang="en-US" sz="500" b="1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Georgia" panose="02040502050405020303" pitchFamily="18" charset="0"/>
              </a:rPr>
              <a:t>Clear transcriptional dominance required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Georgia" panose="02040502050405020303" pitchFamily="18" charset="0"/>
              </a:rPr>
              <a:t>Biological validation against known markers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Georgia" panose="02040502050405020303" pitchFamily="18" charset="0"/>
              </a:rPr>
              <a:t>Consistent with Rudin et al. methodology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Georgia" panose="02040502050405020303" pitchFamily="18" charset="0"/>
              </a:rPr>
              <a:t>Reproducible across datasets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401" y="4828687"/>
            <a:ext cx="5594244" cy="3206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E54EF5-901E-EF3E-744D-913CBF514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860243"/>
              </p:ext>
            </p:extLst>
          </p:nvPr>
        </p:nvGraphicFramePr>
        <p:xfrm>
          <a:off x="768350" y="1746073"/>
          <a:ext cx="11800258" cy="2895600"/>
        </p:xfrm>
        <a:graphic>
          <a:graphicData uri="http://schemas.openxmlformats.org/drawingml/2006/table">
            <a:tbl>
              <a:tblPr/>
              <a:tblGrid>
                <a:gridCol w="6144254">
                  <a:extLst>
                    <a:ext uri="{9D8B030D-6E8A-4147-A177-3AD203B41FA5}">
                      <a16:colId xmlns:a16="http://schemas.microsoft.com/office/drawing/2014/main" val="3402790033"/>
                    </a:ext>
                  </a:extLst>
                </a:gridCol>
                <a:gridCol w="5656004">
                  <a:extLst>
                    <a:ext uri="{9D8B030D-6E8A-4147-A177-3AD203B41FA5}">
                      <a16:colId xmlns:a16="http://schemas.microsoft.com/office/drawing/2014/main" val="3578326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i="0" dirty="0">
                          <a:latin typeface="Georgia" panose="02040502050405020303" pitchFamily="18" charset="0"/>
                        </a:rPr>
                        <a:t>TF-Max Rule (Transcription-Factor Maximum)</a:t>
                      </a:r>
                      <a:endParaRPr lang="en-US" sz="1600" i="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i="0" dirty="0">
                          <a:latin typeface="Georgia" panose="02040502050405020303" pitchFamily="18" charset="0"/>
                        </a:rPr>
                        <a:t>Z-Rule (Z-Score Normalized Rule)</a:t>
                      </a:r>
                      <a:endParaRPr lang="en-US" sz="1600" i="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699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i="0" dirty="0">
                          <a:latin typeface="Georgia" panose="02040502050405020303" pitchFamily="18" charset="0"/>
                        </a:rPr>
                        <a:t>• Classifies a sample by the transcription factor (TF) with the </a:t>
                      </a:r>
                      <a:r>
                        <a:rPr lang="en-US" sz="1600" b="1" i="0" dirty="0">
                          <a:latin typeface="Georgia" panose="02040502050405020303" pitchFamily="18" charset="0"/>
                        </a:rPr>
                        <a:t>highest raw expression</a:t>
                      </a:r>
                      <a:r>
                        <a:rPr lang="en-US" sz="1600" i="0" dirty="0">
                          <a:latin typeface="Georgia" panose="02040502050405020303" pitchFamily="18" charset="0"/>
                        </a:rPr>
                        <a:t> among ASCL1, NEUROD1, YAP1, and POU2F3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i="0" dirty="0">
                          <a:latin typeface="Georgia" panose="02040502050405020303" pitchFamily="18" charset="0"/>
                        </a:rPr>
                        <a:t>• Converts each TF’s expression into a </a:t>
                      </a:r>
                      <a:r>
                        <a:rPr lang="en-US" sz="1600" b="1" i="0" dirty="0">
                          <a:latin typeface="Georgia" panose="02040502050405020303" pitchFamily="18" charset="0"/>
                        </a:rPr>
                        <a:t>z-score</a:t>
                      </a:r>
                      <a:r>
                        <a:rPr lang="en-US" sz="1600" i="0" dirty="0">
                          <a:latin typeface="Georgia" panose="02040502050405020303" pitchFamily="18" charset="0"/>
                        </a:rPr>
                        <a:t>, showing how far above or below average each value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96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i="0" dirty="0">
                          <a:latin typeface="Georgia" panose="02040502050405020303" pitchFamily="18" charset="0"/>
                        </a:rPr>
                        <a:t>• Simple and intuitive — whichever gene is most “switched on” defines the subtype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i="0" dirty="0">
                          <a:latin typeface="Georgia" panose="02040502050405020303" pitchFamily="18" charset="0"/>
                        </a:rPr>
                        <a:t>• Chooses the TF with the </a:t>
                      </a:r>
                      <a:r>
                        <a:rPr lang="en-US" sz="1600" b="1" i="0" dirty="0">
                          <a:latin typeface="Georgia" panose="02040502050405020303" pitchFamily="18" charset="0"/>
                        </a:rPr>
                        <a:t>highest standardized (z-score)</a:t>
                      </a:r>
                      <a:r>
                        <a:rPr lang="en-US" sz="1600" i="0" dirty="0">
                          <a:latin typeface="Georgia" panose="02040502050405020303" pitchFamily="18" charset="0"/>
                        </a:rPr>
                        <a:t> as the subtype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272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i="0" dirty="0">
                          <a:latin typeface="Georgia" panose="02040502050405020303" pitchFamily="18" charset="0"/>
                        </a:rPr>
                        <a:t>• Works best when one TF clearly dominates the others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i="0" dirty="0">
                          <a:latin typeface="Georgia" panose="02040502050405020303" pitchFamily="18" charset="0"/>
                        </a:rPr>
                        <a:t>• Removes bias caused by different expression ranges across genes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363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i="0" dirty="0">
                          <a:latin typeface="Georgia" panose="02040502050405020303" pitchFamily="18" charset="0"/>
                        </a:rPr>
                        <a:t>• </a:t>
                      </a:r>
                      <a:r>
                        <a:rPr lang="en-US" sz="1600" b="1" i="0" dirty="0">
                          <a:latin typeface="Georgia" panose="02040502050405020303" pitchFamily="18" charset="0"/>
                        </a:rPr>
                        <a:t>Limitation:</a:t>
                      </a:r>
                      <a:r>
                        <a:rPr lang="en-US" sz="1600" i="0" dirty="0">
                          <a:latin typeface="Georgia" panose="02040502050405020303" pitchFamily="18" charset="0"/>
                        </a:rPr>
                        <a:t> Sensitive to scale differences between genes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i="0" dirty="0">
                          <a:latin typeface="Georgia" panose="02040502050405020303" pitchFamily="18" charset="0"/>
                        </a:rPr>
                        <a:t>• </a:t>
                      </a:r>
                      <a:r>
                        <a:rPr lang="en-US" sz="1600" b="1" i="0" dirty="0">
                          <a:latin typeface="Georgia" panose="02040502050405020303" pitchFamily="18" charset="0"/>
                        </a:rPr>
                        <a:t>Limitation:</a:t>
                      </a:r>
                      <a:r>
                        <a:rPr lang="en-US" sz="1600" i="0" dirty="0">
                          <a:latin typeface="Georgia" panose="02040502050405020303" pitchFamily="18" charset="0"/>
                        </a:rPr>
                        <a:t> May slightly over-normalize subtle biological differences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7778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893F888-D148-D21A-3DB0-AAF3B020A5C8}"/>
              </a:ext>
            </a:extLst>
          </p:cNvPr>
          <p:cNvSpPr txBox="1"/>
          <p:nvPr/>
        </p:nvSpPr>
        <p:spPr>
          <a:xfrm>
            <a:off x="744536" y="5101278"/>
            <a:ext cx="56795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eorgia" panose="02040502050405020303" pitchFamily="18" charset="0"/>
              </a:rPr>
              <a:t>Both rules are based on the paper’s principle  - </a:t>
            </a:r>
            <a:r>
              <a:rPr lang="en-US" sz="1600" i="1" dirty="0">
                <a:latin typeface="Georgia" panose="02040502050405020303" pitchFamily="18" charset="0"/>
              </a:rPr>
              <a:t>“classify by the transcription factor with the greatest relative expression”</a:t>
            </a:r>
          </a:p>
          <a:p>
            <a:endParaRPr lang="en-US" sz="1600" i="1" dirty="0">
              <a:latin typeface="Georgia" panose="02040502050405020303" pitchFamily="18" charset="0"/>
            </a:endParaRPr>
          </a:p>
          <a:p>
            <a:r>
              <a:rPr lang="en-US" sz="1600" dirty="0">
                <a:latin typeface="Georgia" panose="02040502050405020303" pitchFamily="18" charset="0"/>
              </a:rPr>
              <a:t>The </a:t>
            </a:r>
            <a:r>
              <a:rPr lang="en-US" sz="1600" b="1" dirty="0">
                <a:latin typeface="Georgia" panose="02040502050405020303" pitchFamily="18" charset="0"/>
              </a:rPr>
              <a:t>TF-Max Rule</a:t>
            </a:r>
            <a:r>
              <a:rPr lang="en-US" sz="1600" dirty="0">
                <a:latin typeface="Georgia" panose="02040502050405020303" pitchFamily="18" charset="0"/>
              </a:rPr>
              <a:t> mirrors the paper’s raw-expression method, while the </a:t>
            </a:r>
            <a:r>
              <a:rPr lang="en-US" sz="1600" b="1" dirty="0">
                <a:latin typeface="Georgia" panose="02040502050405020303" pitchFamily="18" charset="0"/>
              </a:rPr>
              <a:t>Z-Rule</a:t>
            </a:r>
            <a:r>
              <a:rPr lang="en-US" sz="1600" dirty="0">
                <a:latin typeface="Georgia" panose="02040502050405020303" pitchFamily="18" charset="0"/>
              </a:rPr>
              <a:t> is our </a:t>
            </a:r>
            <a:r>
              <a:rPr lang="en-US" sz="1600" b="1" dirty="0">
                <a:latin typeface="Georgia" panose="02040502050405020303" pitchFamily="18" charset="0"/>
              </a:rPr>
              <a:t>computational extension</a:t>
            </a:r>
            <a:r>
              <a:rPr lang="en-US" sz="1600" dirty="0">
                <a:latin typeface="Georgia" panose="02040502050405020303" pitchFamily="18" charset="0"/>
              </a:rPr>
              <a:t> for more balanced, scale-independent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14CEF4-30E1-D75D-24EA-FEE5C65F4A17}"/>
              </a:ext>
            </a:extLst>
          </p:cNvPr>
          <p:cNvSpPr txBox="1"/>
          <p:nvPr/>
        </p:nvSpPr>
        <p:spPr>
          <a:xfrm>
            <a:off x="744536" y="603073"/>
            <a:ext cx="12574589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Georgia" panose="02040502050405020303" pitchFamily="18" charset="0"/>
              </a:rPr>
              <a:t>1. TF-Max Rule vs Z-Rule — Assigning SCLC Subtypes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E0EB7D-EFFF-FB66-2D81-2C9399C47FF8}"/>
              </a:ext>
            </a:extLst>
          </p:cNvPr>
          <p:cNvSpPr/>
          <p:nvPr/>
        </p:nvSpPr>
        <p:spPr>
          <a:xfrm>
            <a:off x="12820454" y="7696200"/>
            <a:ext cx="18099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007482-2B8E-F0B4-E929-F63997C76905}"/>
              </a:ext>
            </a:extLst>
          </p:cNvPr>
          <p:cNvSpPr txBox="1"/>
          <p:nvPr/>
        </p:nvSpPr>
        <p:spPr>
          <a:xfrm>
            <a:off x="748056" y="2430128"/>
            <a:ext cx="13022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The </a:t>
            </a:r>
            <a:r>
              <a:rPr lang="en-US" b="1" dirty="0">
                <a:latin typeface="Georgia" panose="02040502050405020303" pitchFamily="18" charset="0"/>
              </a:rPr>
              <a:t>MYC family</a:t>
            </a:r>
            <a:r>
              <a:rPr lang="en-US" dirty="0">
                <a:latin typeface="Georgia" panose="02040502050405020303" pitchFamily="18" charset="0"/>
              </a:rPr>
              <a:t> includes three oncogenes — </a:t>
            </a:r>
            <a:r>
              <a:rPr lang="en-US" b="1" dirty="0">
                <a:latin typeface="Georgia" panose="02040502050405020303" pitchFamily="18" charset="0"/>
              </a:rPr>
              <a:t>MYC, MYCL, and MYCN</a:t>
            </a:r>
            <a:r>
              <a:rPr lang="en-US" dirty="0">
                <a:latin typeface="Georgia" panose="02040502050405020303" pitchFamily="18" charset="0"/>
              </a:rPr>
              <a:t> — that regulate cell growth and metabolism.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Frequent amplification</a:t>
            </a:r>
            <a:r>
              <a:rPr lang="en-US" dirty="0">
                <a:latin typeface="Georgia" panose="02040502050405020303" pitchFamily="18" charset="0"/>
              </a:rPr>
              <a:t> observed in SCLC; one of the most consistent genomic findings.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Indicates that MYC genes define the tumor’s </a:t>
            </a:r>
            <a:r>
              <a:rPr lang="en-US" b="1" dirty="0">
                <a:latin typeface="Georgia" panose="02040502050405020303" pitchFamily="18" charset="0"/>
              </a:rPr>
              <a:t>biological identity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454638-9A0A-43A3-8BD4-4D07860BF4E4}"/>
              </a:ext>
            </a:extLst>
          </p:cNvPr>
          <p:cNvSpPr txBox="1"/>
          <p:nvPr/>
        </p:nvSpPr>
        <p:spPr>
          <a:xfrm>
            <a:off x="748056" y="839940"/>
            <a:ext cx="12897050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Georgia" panose="02040502050405020303" pitchFamily="18" charset="0"/>
              </a:rPr>
              <a:t>2. Role of the MYC Family in Small-Cell Lung Cancer (SCLC)</a:t>
            </a:r>
          </a:p>
        </p:txBody>
      </p:sp>
      <p:sp>
        <p:nvSpPr>
          <p:cNvPr id="7" name="Shape 1"/>
          <p:cNvSpPr/>
          <p:nvPr/>
        </p:nvSpPr>
        <p:spPr>
          <a:xfrm>
            <a:off x="307129" y="3704961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9313850" y="6413692"/>
            <a:ext cx="43312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CB4CABF-4DBA-BFDF-2488-CA0EE6E0B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56" y="3850453"/>
            <a:ext cx="13022492" cy="247684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D3EDFB2-CB6E-0EB8-0F7E-D1E5388D1921}"/>
              </a:ext>
            </a:extLst>
          </p:cNvPr>
          <p:cNvSpPr/>
          <p:nvPr/>
        </p:nvSpPr>
        <p:spPr>
          <a:xfrm>
            <a:off x="12801600" y="7753350"/>
            <a:ext cx="18288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2"/>
          <a:srcRect b="49874"/>
          <a:stretch>
            <a:fillRect/>
          </a:stretch>
        </p:blipFill>
        <p:spPr>
          <a:xfrm>
            <a:off x="970961" y="347317"/>
            <a:ext cx="12489351" cy="37674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C042A1-AFD4-9C41-39D9-523BD012DA04}"/>
              </a:ext>
            </a:extLst>
          </p:cNvPr>
          <p:cNvSpPr txBox="1"/>
          <p:nvPr/>
        </p:nvSpPr>
        <p:spPr>
          <a:xfrm>
            <a:off x="8780688" y="4991275"/>
            <a:ext cx="4679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Derived Findings:</a:t>
            </a:r>
          </a:p>
          <a:p>
            <a:endParaRPr lang="en-US" u="sng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Demonstrates MYC as both a </a:t>
            </a:r>
            <a:r>
              <a:rPr lang="en-US" b="1" dirty="0">
                <a:latin typeface="Georgia" panose="02040502050405020303" pitchFamily="18" charset="0"/>
              </a:rPr>
              <a:t>diagnostic marker</a:t>
            </a:r>
            <a:r>
              <a:rPr lang="en-US" dirty="0">
                <a:latin typeface="Georgia" panose="02040502050405020303" pitchFamily="18" charset="0"/>
              </a:rPr>
              <a:t> and a </a:t>
            </a:r>
            <a:r>
              <a:rPr lang="en-US" b="1" dirty="0">
                <a:latin typeface="Georgia" panose="02040502050405020303" pitchFamily="18" charset="0"/>
              </a:rPr>
              <a:t>predictive biomarker</a:t>
            </a:r>
            <a:r>
              <a:rPr lang="en-US" dirty="0">
                <a:latin typeface="Georgia" panose="02040502050405020303" pitchFamily="18" charset="0"/>
              </a:rPr>
              <a:t> for drug response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Supports future </a:t>
            </a:r>
            <a:r>
              <a:rPr lang="en-US" b="1" dirty="0">
                <a:latin typeface="Georgia" panose="02040502050405020303" pitchFamily="18" charset="0"/>
              </a:rPr>
              <a:t>subtype-specific, MYC-targeted therapies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008F7-F27B-7039-F4DA-B588C5176627}"/>
              </a:ext>
            </a:extLst>
          </p:cNvPr>
          <p:cNvSpPr txBox="1"/>
          <p:nvPr/>
        </p:nvSpPr>
        <p:spPr>
          <a:xfrm>
            <a:off x="425370" y="4408462"/>
            <a:ext cx="124893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Fig: Differential Gene Expression across SCLC Subtypes MYC Family </a:t>
            </a:r>
          </a:p>
          <a:p>
            <a:endParaRPr lang="en-US" sz="1000" dirty="0">
              <a:latin typeface="Georgia" panose="020405020504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D6CC70-42DF-6B2A-A45C-32CFD7628C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2"/>
          <a:stretch>
            <a:fillRect/>
          </a:stretch>
        </p:blipFill>
        <p:spPr>
          <a:xfrm>
            <a:off x="1025718" y="4839348"/>
            <a:ext cx="4121318" cy="26121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494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4858" y="150829"/>
            <a:ext cx="13227367" cy="672011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200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Four Molecular Subtypes : Core Findings</a:t>
            </a:r>
            <a:endParaRPr lang="en-US" sz="3200" dirty="0">
              <a:latin typeface="Georgia" panose="020405020504050203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64858" y="1257776"/>
            <a:ext cx="4978717" cy="1402318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80098" y="1273016"/>
            <a:ext cx="568166" cy="1371838"/>
          </a:xfrm>
          <a:prstGeom prst="roundRect">
            <a:avLst>
              <a:gd name="adj" fmla="val 531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57620" y="1825823"/>
            <a:ext cx="21300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90305" y="1415058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SCLC-A (ASCL1)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90305" y="1722001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ASCL1 transcription factor dominant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90305" y="1998821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Markers: BCL2, DLL3 high expression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90305" y="2275642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Neuroendocrine differentiation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64858" y="2802136"/>
            <a:ext cx="4978717" cy="1402318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80098" y="2817376"/>
            <a:ext cx="568166" cy="1371838"/>
          </a:xfrm>
          <a:prstGeom prst="roundRect">
            <a:avLst>
              <a:gd name="adj" fmla="val 531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57620" y="3370183"/>
            <a:ext cx="21300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90305" y="2959417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SCLC-N (NEUROD1)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490305" y="3266361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NEUROD1 transcription factor dominant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490305" y="3543181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Markers: MYC pathway activation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490305" y="3820001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Proliferation-focused biology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64858" y="4346496"/>
            <a:ext cx="4978717" cy="1402318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80098" y="4361736"/>
            <a:ext cx="568166" cy="1371838"/>
          </a:xfrm>
          <a:prstGeom prst="roundRect">
            <a:avLst>
              <a:gd name="adj" fmla="val 531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57620" y="4914543"/>
            <a:ext cx="21300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490305" y="4503777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SCLC-Y (YAP1)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490305" y="4810720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YAP1 transcription factor dominant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490305" y="5087541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Hippo pathway dysregulation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490305" y="5364361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Distinct survival patterns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64858" y="5890855"/>
            <a:ext cx="4978717" cy="1402318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780098" y="5906095"/>
            <a:ext cx="568166" cy="1371838"/>
          </a:xfrm>
          <a:prstGeom prst="roundRect">
            <a:avLst>
              <a:gd name="adj" fmla="val 531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57620" y="6458903"/>
            <a:ext cx="21300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490305" y="6048137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SCLC-P (POU2F3)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490305" y="6355080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POU2F3 transcription factor dominant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490305" y="6631900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Markers: IGF1R high expression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490305" y="6908721"/>
            <a:ext cx="673155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Growth factor signaling prominent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4858" y="7452955"/>
            <a:ext cx="7614285" cy="181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Therapeutic Relevance:</a:t>
            </a:r>
            <a:r>
              <a:rPr lang="en-US" sz="12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 Each subtype exhibits distinct vulnerability to targeted therapies, enabling precision oncology approaches.</a:t>
            </a:r>
            <a:endParaRPr lang="en-US" sz="1200" dirty="0">
              <a:latin typeface="Georgia" panose="02040502050405020303" pitchFamily="18" charset="0"/>
            </a:endParaRPr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616" y="1250631"/>
            <a:ext cx="8106609" cy="60425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730A8E2-88B9-8B96-0CA4-42D5D3F96F09}"/>
              </a:ext>
            </a:extLst>
          </p:cNvPr>
          <p:cNvSpPr/>
          <p:nvPr/>
        </p:nvSpPr>
        <p:spPr>
          <a:xfrm>
            <a:off x="12868275" y="7753350"/>
            <a:ext cx="1762125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37328"/>
            <a:ext cx="13042820" cy="703184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200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Subtype Proportions: Our Analysis</a:t>
            </a:r>
            <a:endParaRPr lang="en-US" sz="32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58052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Comparative analysis of molecular subtype frequencies in our cell line dataset versus published clinical data from Rudin et al. 2019: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98715" y="1901428"/>
            <a:ext cx="9129951" cy="46362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68594" y="6706433"/>
            <a:ext cx="158710" cy="158710"/>
          </a:xfrm>
          <a:prstGeom prst="roundRect">
            <a:avLst>
              <a:gd name="adj" fmla="val 11523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88264" y="6706433"/>
            <a:ext cx="1188601" cy="158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Our Dataset (%)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095530" y="6706314"/>
            <a:ext cx="158710" cy="158710"/>
          </a:xfrm>
          <a:prstGeom prst="roundRect">
            <a:avLst>
              <a:gd name="adj" fmla="val 1152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0" y="6706314"/>
            <a:ext cx="1160978" cy="158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Rudin et al. (%)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3790" y="7281982"/>
            <a:ext cx="13042821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Close alignment confirms our implementation successfully captures subtype distributions reported in the original research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3B7D21-64BD-2AB4-093C-D90715E996E7}"/>
              </a:ext>
            </a:extLst>
          </p:cNvPr>
          <p:cNvSpPr/>
          <p:nvPr/>
        </p:nvSpPr>
        <p:spPr>
          <a:xfrm>
            <a:off x="12849225" y="7715250"/>
            <a:ext cx="1781175" cy="496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424207"/>
            <a:ext cx="12813744" cy="687362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200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Machine Learning Validation: Subtype Separability</a:t>
            </a:r>
            <a:endParaRPr lang="en-US" sz="32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7957" y="1338607"/>
            <a:ext cx="12813744" cy="396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Multiple classification models confirm robust molecular subtype separation: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7957" y="7106126"/>
            <a:ext cx="12813744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9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Gradient Boosting's superior performance (98% Test Accuracy) demonstrates that transcription factor expression patterns encode distinct, predictive subtype signatures, validating Rudin et al.'s biological framework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4C41B8-6861-C6CC-B8EF-146B4F332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664" y="1868372"/>
            <a:ext cx="9793067" cy="48107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126F2E1-235F-8E0B-8D9E-6B1382219DF2}"/>
              </a:ext>
            </a:extLst>
          </p:cNvPr>
          <p:cNvSpPr/>
          <p:nvPr/>
        </p:nvSpPr>
        <p:spPr>
          <a:xfrm>
            <a:off x="12773025" y="7743825"/>
            <a:ext cx="1857375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27115" y="2362973"/>
            <a:ext cx="4196358" cy="3121462"/>
          </a:xfrm>
          <a:prstGeom prst="roundRect">
            <a:avLst>
              <a:gd name="adj" fmla="val 1744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3929" y="2589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 u="sng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Key Achievement</a:t>
            </a:r>
            <a:endParaRPr lang="en-US" sz="1600" b="1" u="sng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3929" y="3080206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Successfully reproduced Rudin et al.'s four-subtype classification framework computationally, confirming biological validity across independent data.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150287" y="2362973"/>
            <a:ext cx="4196358" cy="3121462"/>
          </a:xfrm>
          <a:prstGeom prst="roundRect">
            <a:avLst>
              <a:gd name="adj" fmla="val 1744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77101" y="2589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 u="sng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Clinical Translation</a:t>
            </a:r>
            <a:endParaRPr lang="en-US" sz="1600" b="1" u="sng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77101" y="3080206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Demonstrates subtype-specific biology enables precision therapeutics: BCL2/DLL3 inhibitors for SCLC-A, MYC inhibitors for SCLC-N, IGF1R agents for SCLC-P.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73458" y="2362973"/>
            <a:ext cx="4196358" cy="3121462"/>
          </a:xfrm>
          <a:prstGeom prst="roundRect">
            <a:avLst>
              <a:gd name="adj" fmla="val 1744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00273" y="2589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 u="sng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Future Work</a:t>
            </a:r>
            <a:endParaRPr lang="en-US" sz="1600" b="1" u="sng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00273" y="3080206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Expand to larger patient cohorts, correlate subtypes with drug response, develop clinical diagnostic panel, integrate into treatment decision support systems.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5739586"/>
            <a:ext cx="12976026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2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Computational findings mirror Rudin et al.'s biological insights, advancing SCLC from a uniform disease model toward precision oncology implementation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62AC29-6215-00DD-A9DF-442629E107CE}"/>
              </a:ext>
            </a:extLst>
          </p:cNvPr>
          <p:cNvSpPr/>
          <p:nvPr/>
        </p:nvSpPr>
        <p:spPr>
          <a:xfrm>
            <a:off x="12496799" y="7520820"/>
            <a:ext cx="2066925" cy="7087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BA38EB42-5E79-93BA-337B-5850085B31A3}"/>
              </a:ext>
            </a:extLst>
          </p:cNvPr>
          <p:cNvSpPr/>
          <p:nvPr/>
        </p:nvSpPr>
        <p:spPr>
          <a:xfrm>
            <a:off x="793790" y="659963"/>
            <a:ext cx="13042820" cy="708779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Conclusion &amp; Future Directions</a:t>
            </a:r>
            <a:endParaRPr lang="en-US" sz="32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643</TotalTime>
  <Words>1282</Words>
  <Application>Microsoft Office PowerPoint</Application>
  <PresentationFormat>Custom</PresentationFormat>
  <Paragraphs>117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Wingdings</vt:lpstr>
      <vt:lpstr>Georgia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Aditi Deshmukh</dc:creator>
  <cp:lastModifiedBy>Aditi Hemant Deshmukh</cp:lastModifiedBy>
  <cp:revision>12</cp:revision>
  <dcterms:created xsi:type="dcterms:W3CDTF">2025-11-01T05:05:18Z</dcterms:created>
  <dcterms:modified xsi:type="dcterms:W3CDTF">2025-11-08T14:15:55Z</dcterms:modified>
</cp:coreProperties>
</file>