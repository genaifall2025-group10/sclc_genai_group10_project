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8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54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017" y="1702166"/>
            <a:ext cx="4698633" cy="46986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066" y="19784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200" b="1" dirty="0">
                <a:solidFill>
                  <a:srgbClr val="333F70"/>
                </a:solidFill>
                <a:latin typeface="Amasis pro MT"/>
                <a:ea typeface="Unbounded Bold" pitchFamily="34" charset="-122"/>
                <a:cs typeface="Unbounded Bold" pitchFamily="34" charset="-120"/>
              </a:rPr>
              <a:t>OncoDetectAI</a:t>
            </a:r>
            <a:endParaRPr lang="en-US" sz="7200" dirty="0">
              <a:latin typeface="Amasis pro MT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868691"/>
            <a:ext cx="7556421" cy="708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Amasis pro MT"/>
                <a:ea typeface="Unbounded Bold" pitchFamily="34" charset="-122"/>
                <a:cs typeface="Unbounded Bold" pitchFamily="34" charset="-120"/>
              </a:rPr>
              <a:t>Multimodal AI Platform for Small Cell Lung Cancer (SCLC) Detection &amp; Risk Stratification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b="1" dirty="0">
              <a:solidFill>
                <a:srgbClr val="333F70"/>
              </a:solidFill>
              <a:latin typeface="Amasis pro MT"/>
              <a:ea typeface="Unbounded Bold" pitchFamily="34" charset="-122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b="1" u="sng" dirty="0">
                <a:solidFill>
                  <a:srgbClr val="333F70"/>
                </a:solidFill>
                <a:latin typeface="Amasis pro MT"/>
                <a:ea typeface="Unbounded Bold" pitchFamily="34" charset="-122"/>
              </a:rPr>
              <a:t>Team Members: </a:t>
            </a:r>
          </a:p>
          <a:p>
            <a:pPr marL="0" indent="0" algn="l">
              <a:lnSpc>
                <a:spcPts val="2750"/>
              </a:lnSpc>
              <a:buNone/>
            </a:pPr>
            <a:br>
              <a:rPr lang="en-US" sz="2200" b="1" dirty="0">
                <a:solidFill>
                  <a:srgbClr val="333F70"/>
                </a:solidFill>
                <a:latin typeface="Amasis pro MT"/>
                <a:ea typeface="Unbounded Bold" pitchFamily="34" charset="-122"/>
              </a:rPr>
            </a:br>
            <a:r>
              <a:rPr lang="en-US" sz="2200" b="1" dirty="0">
                <a:solidFill>
                  <a:srgbClr val="333F70"/>
                </a:solidFill>
                <a:latin typeface="Amasis pro MT"/>
                <a:ea typeface="Unbounded Bold" pitchFamily="34" charset="-122"/>
              </a:rPr>
              <a:t>Pranali Chipkar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Amasis pro MT"/>
                <a:ea typeface="Unbounded Bold" pitchFamily="34" charset="-122"/>
              </a:rPr>
              <a:t>Siddharth Pawar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Amasis pro MT"/>
                <a:ea typeface="Unbounded Bold" pitchFamily="34" charset="-122"/>
              </a:rPr>
              <a:t>Aditi Deshmukh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D59F25-9450-CD8F-C2AD-1A1E2DDB8720}"/>
              </a:ext>
            </a:extLst>
          </p:cNvPr>
          <p:cNvSpPr/>
          <p:nvPr/>
        </p:nvSpPr>
        <p:spPr>
          <a:xfrm>
            <a:off x="12660198" y="7635711"/>
            <a:ext cx="1970202" cy="51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521" y="578644"/>
            <a:ext cx="6692622" cy="657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Amasis pro MT"/>
                <a:ea typeface="Unbounded Bold" pitchFamily="34" charset="-122"/>
                <a:cs typeface="Unbounded Bold" pitchFamily="34" charset="-120"/>
              </a:rPr>
              <a:t>Why OncoDetectAI?</a:t>
            </a:r>
            <a:endParaRPr lang="en-US" sz="4400" dirty="0">
              <a:latin typeface="Amasis pro M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36521" y="1551861"/>
            <a:ext cx="7670959" cy="2458641"/>
          </a:xfrm>
          <a:prstGeom prst="roundRect">
            <a:avLst>
              <a:gd name="adj" fmla="val 3595"/>
            </a:avLst>
          </a:prstGeom>
          <a:solidFill>
            <a:srgbClr val="1E3A8A"/>
          </a:solidFill>
          <a:ln w="7620">
            <a:solidFill>
              <a:srgbClr val="3753A3"/>
            </a:solidFill>
            <a:prstDash val="solid"/>
          </a:ln>
        </p:spPr>
        <p:txBody>
          <a:bodyPr/>
          <a:lstStyle/>
          <a:p>
            <a:endParaRPr lang="en-US" dirty="0">
              <a:latin typeface="Amasis pro M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353313-19D3-E636-1C3F-6B93BEFDB902}"/>
              </a:ext>
            </a:extLst>
          </p:cNvPr>
          <p:cNvGrpSpPr/>
          <p:nvPr/>
        </p:nvGrpSpPr>
        <p:grpSpPr>
          <a:xfrm>
            <a:off x="954524" y="1769864"/>
            <a:ext cx="7234952" cy="2022634"/>
            <a:chOff x="954524" y="1769864"/>
            <a:chExt cx="7234952" cy="2022634"/>
          </a:xfrm>
        </p:grpSpPr>
        <p:sp>
          <p:nvSpPr>
            <p:cNvPr id="5" name="Text 2"/>
            <p:cNvSpPr/>
            <p:nvPr/>
          </p:nvSpPr>
          <p:spPr>
            <a:xfrm>
              <a:off x="954524" y="1769864"/>
              <a:ext cx="3587472" cy="328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rgbClr val="FFFFFF"/>
                  </a:solidFill>
                  <a:latin typeface="Amasis pro MT"/>
                  <a:ea typeface="Unbounded Bold" pitchFamily="34" charset="-122"/>
                  <a:cs typeface="Unbounded Bold" pitchFamily="34" charset="-120"/>
                </a:rPr>
                <a:t>The Clinical Challenge</a:t>
              </a:r>
              <a:endParaRPr lang="en-US" sz="2050" dirty="0">
                <a:latin typeface="Amasis pro MT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954524" y="2224921"/>
              <a:ext cx="7234952" cy="3367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650"/>
                </a:lnSpc>
                <a:buSzPct val="100000"/>
                <a:buChar char="•"/>
              </a:pPr>
              <a:r>
                <a:rPr lang="en-US" sz="1650" dirty="0">
                  <a:solidFill>
                    <a:srgbClr val="FFFFFF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SCLC: 15% of lung cancers, worst prognosis</a:t>
              </a:r>
              <a:endParaRPr lang="en-US" sz="1650" dirty="0">
                <a:latin typeface="Amasis pro MT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954524" y="2635210"/>
              <a:ext cx="7234952" cy="3367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650"/>
                </a:lnSpc>
                <a:buSzPct val="100000"/>
                <a:buChar char="•"/>
              </a:pPr>
              <a:r>
                <a:rPr lang="en-US" sz="1650" dirty="0">
                  <a:solidFill>
                    <a:srgbClr val="FFFFFF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70% diagnosed at advanced stages</a:t>
              </a:r>
              <a:endParaRPr lang="en-US" sz="1650" dirty="0">
                <a:latin typeface="Amasis pro MT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954524" y="3045500"/>
              <a:ext cx="7234952" cy="3367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650"/>
                </a:lnSpc>
                <a:buSzPct val="100000"/>
                <a:buChar char="•"/>
              </a:pPr>
              <a:r>
                <a:rPr lang="en-US" sz="1650" dirty="0">
                  <a:solidFill>
                    <a:srgbClr val="FFFFFF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12–18-month average survival</a:t>
              </a:r>
              <a:endParaRPr lang="en-US" sz="1650" dirty="0">
                <a:latin typeface="Amasis pro MT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954524" y="3455789"/>
              <a:ext cx="7234952" cy="3367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650"/>
                </a:lnSpc>
                <a:buSzPct val="100000"/>
                <a:buChar char="•"/>
              </a:pPr>
              <a:r>
                <a:rPr lang="en-US" sz="1650" dirty="0">
                  <a:solidFill>
                    <a:srgbClr val="FFFFFF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Critical gap in early detection tools</a:t>
              </a:r>
              <a:endParaRPr lang="en-US" sz="1650" dirty="0">
                <a:latin typeface="Amasis pro MT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2253622-9844-4F6B-85A4-54ACC1998BA6}"/>
              </a:ext>
            </a:extLst>
          </p:cNvPr>
          <p:cNvGrpSpPr/>
          <p:nvPr/>
        </p:nvGrpSpPr>
        <p:grpSpPr>
          <a:xfrm>
            <a:off x="736521" y="4220885"/>
            <a:ext cx="7670959" cy="2048351"/>
            <a:chOff x="736521" y="4220885"/>
            <a:chExt cx="7670959" cy="2048351"/>
          </a:xfrm>
        </p:grpSpPr>
        <p:sp>
          <p:nvSpPr>
            <p:cNvPr id="10" name="Shape 7"/>
            <p:cNvSpPr/>
            <p:nvPr/>
          </p:nvSpPr>
          <p:spPr>
            <a:xfrm>
              <a:off x="736521" y="4220885"/>
              <a:ext cx="7670959" cy="2048351"/>
            </a:xfrm>
            <a:prstGeom prst="roundRect">
              <a:avLst>
                <a:gd name="adj" fmla="val 4315"/>
              </a:avLst>
            </a:prstGeom>
            <a:solidFill>
              <a:srgbClr val="0D9488"/>
            </a:solidFill>
            <a:ln w="7620">
              <a:solidFill>
                <a:srgbClr val="26ADA1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3D4706E-37FE-2CEE-9E5E-D7BDC632121D}"/>
                </a:ext>
              </a:extLst>
            </p:cNvPr>
            <p:cNvGrpSpPr/>
            <p:nvPr/>
          </p:nvGrpSpPr>
          <p:grpSpPr>
            <a:xfrm>
              <a:off x="954524" y="4438888"/>
              <a:ext cx="7234952" cy="1612345"/>
              <a:chOff x="954524" y="4438888"/>
              <a:chExt cx="7234952" cy="1612345"/>
            </a:xfrm>
          </p:grpSpPr>
          <p:sp>
            <p:nvSpPr>
              <p:cNvPr id="11" name="Text 8"/>
              <p:cNvSpPr/>
              <p:nvPr/>
            </p:nvSpPr>
            <p:spPr>
              <a:xfrm>
                <a:off x="954524" y="4438888"/>
                <a:ext cx="4059317" cy="32885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550"/>
                  </a:lnSpc>
                  <a:buNone/>
                </a:pPr>
                <a:r>
                  <a:rPr lang="en-US" sz="2050" b="1" dirty="0">
                    <a:solidFill>
                      <a:srgbClr val="FFFFFF"/>
                    </a:solidFill>
                    <a:latin typeface="Amasis pro MT"/>
                    <a:ea typeface="Unbounded Bold" pitchFamily="34" charset="-122"/>
                    <a:cs typeface="Unbounded Bold" pitchFamily="34" charset="-120"/>
                  </a:rPr>
                  <a:t>The Reality for Clinicians</a:t>
                </a:r>
                <a:endParaRPr lang="en-US" sz="2050" dirty="0">
                  <a:latin typeface="Amasis pro MT"/>
                </a:endParaRPr>
              </a:p>
            </p:txBody>
          </p:sp>
          <p:sp>
            <p:nvSpPr>
              <p:cNvPr id="12" name="Text 9"/>
              <p:cNvSpPr/>
              <p:nvPr/>
            </p:nvSpPr>
            <p:spPr>
              <a:xfrm>
                <a:off x="954524" y="4893945"/>
                <a:ext cx="7234952" cy="33670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650"/>
                  </a:lnSpc>
                  <a:buSzPct val="100000"/>
                  <a:buChar char="•"/>
                </a:pPr>
                <a:r>
                  <a:rPr lang="en-US" sz="1650" dirty="0">
                    <a:solidFill>
                      <a:srgbClr val="FFFFFF"/>
                    </a:solidFill>
                    <a:latin typeface="Amasis pro MT"/>
                    <a:ea typeface="Open Sans" pitchFamily="34" charset="-122"/>
                    <a:cs typeface="Open Sans" pitchFamily="34" charset="-120"/>
                  </a:rPr>
                  <a:t>530+ latest research papers</a:t>
                </a:r>
                <a:endParaRPr lang="en-US" sz="1650" dirty="0">
                  <a:latin typeface="Amasis pro MT"/>
                </a:endParaRPr>
              </a:p>
            </p:txBody>
          </p:sp>
          <p:sp>
            <p:nvSpPr>
              <p:cNvPr id="13" name="Text 10"/>
              <p:cNvSpPr/>
              <p:nvPr/>
            </p:nvSpPr>
            <p:spPr>
              <a:xfrm>
                <a:off x="954524" y="5304234"/>
                <a:ext cx="7234952" cy="33670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650"/>
                  </a:lnSpc>
                  <a:buSzPct val="100000"/>
                  <a:buChar char="•"/>
                </a:pPr>
                <a:r>
                  <a:rPr lang="en-US" sz="1650" dirty="0">
                    <a:solidFill>
                      <a:srgbClr val="FFFFFF"/>
                    </a:solidFill>
                    <a:latin typeface="Amasis pro MT"/>
                    <a:ea typeface="Open Sans" pitchFamily="34" charset="-122"/>
                    <a:cs typeface="Open Sans" pitchFamily="34" charset="-120"/>
                  </a:rPr>
                  <a:t>Limited access to molecular subtyping</a:t>
                </a:r>
                <a:endParaRPr lang="en-US" sz="1650" dirty="0">
                  <a:latin typeface="Amasis pro MT"/>
                </a:endParaRPr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954524" y="5714524"/>
                <a:ext cx="7234952" cy="33670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650"/>
                  </a:lnSpc>
                  <a:buSzPct val="100000"/>
                  <a:buChar char="•"/>
                </a:pPr>
                <a:r>
                  <a:rPr lang="en-US" sz="1650" dirty="0">
                    <a:solidFill>
                      <a:srgbClr val="FFFFFF"/>
                    </a:solidFill>
                    <a:latin typeface="Amasis pro MT"/>
                    <a:ea typeface="Open Sans" pitchFamily="34" charset="-122"/>
                    <a:cs typeface="Open Sans" pitchFamily="34" charset="-120"/>
                  </a:rPr>
                  <a:t>Patients lack risk assessment tools</a:t>
                </a:r>
                <a:endParaRPr lang="en-US" sz="1650" dirty="0">
                  <a:latin typeface="Amasis pro MT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CD4FBE-AD41-C743-9B8F-CFCFDF5A575B}"/>
              </a:ext>
            </a:extLst>
          </p:cNvPr>
          <p:cNvGrpSpPr/>
          <p:nvPr/>
        </p:nvGrpSpPr>
        <p:grpSpPr>
          <a:xfrm>
            <a:off x="736521" y="6505932"/>
            <a:ext cx="7670958" cy="1146810"/>
            <a:chOff x="736521" y="6505932"/>
            <a:chExt cx="7670958" cy="1146810"/>
          </a:xfrm>
        </p:grpSpPr>
        <p:sp>
          <p:nvSpPr>
            <p:cNvPr id="15" name="Text 12"/>
            <p:cNvSpPr/>
            <p:nvPr/>
          </p:nvSpPr>
          <p:spPr>
            <a:xfrm>
              <a:off x="1052155" y="6742628"/>
              <a:ext cx="7355324" cy="673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What if AI could detect risk earlier, personalize treatment, and democratize access to cutting-edge oncology insights?</a:t>
              </a:r>
              <a:endParaRPr lang="en-US" sz="1650" dirty="0">
                <a:latin typeface="Amasis pro MT"/>
              </a:endParaRPr>
            </a:p>
          </p:txBody>
        </p:sp>
        <p:sp>
          <p:nvSpPr>
            <p:cNvPr id="16" name="Shape 13"/>
            <p:cNvSpPr/>
            <p:nvPr/>
          </p:nvSpPr>
          <p:spPr>
            <a:xfrm>
              <a:off x="736521" y="6505932"/>
              <a:ext cx="22860" cy="1146810"/>
            </a:xfrm>
            <a:prstGeom prst="rect">
              <a:avLst/>
            </a:prstGeom>
            <a:solidFill>
              <a:srgbClr val="26A688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636" y="877372"/>
            <a:ext cx="5047655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Amasis pro MT"/>
                <a:ea typeface="Unbounded Bold" pitchFamily="34" charset="-122"/>
                <a:cs typeface="Unbounded Bold" pitchFamily="34" charset="-120"/>
              </a:rPr>
              <a:t>INTRODUCTION</a:t>
            </a:r>
            <a:endParaRPr lang="en-US" sz="4400" dirty="0">
              <a:latin typeface="Amasis pro M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21757" y="1792027"/>
            <a:ext cx="13217128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Amasis pro MT"/>
                <a:ea typeface="Open Sans" pitchFamily="34" charset="-122"/>
                <a:cs typeface="Open Sans" pitchFamily="34" charset="-120"/>
              </a:rPr>
              <a:t>A comprehensive platform combining multimodal AI, real-time research synthesis, and clinical decision support</a:t>
            </a:r>
            <a:endParaRPr lang="en-US" dirty="0">
              <a:latin typeface="Amasis pro MT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DE84138-B3C8-AC68-C59F-D8B4ADD62E3C}"/>
              </a:ext>
            </a:extLst>
          </p:cNvPr>
          <p:cNvGrpSpPr/>
          <p:nvPr/>
        </p:nvGrpSpPr>
        <p:grpSpPr>
          <a:xfrm>
            <a:off x="721757" y="2525417"/>
            <a:ext cx="13232249" cy="2021206"/>
            <a:chOff x="706636" y="2664023"/>
            <a:chExt cx="13232249" cy="2021206"/>
          </a:xfrm>
        </p:grpSpPr>
        <p:sp>
          <p:nvSpPr>
            <p:cNvPr id="4" name="Text 2"/>
            <p:cNvSpPr/>
            <p:nvPr/>
          </p:nvSpPr>
          <p:spPr>
            <a:xfrm>
              <a:off x="706636" y="2664024"/>
              <a:ext cx="4031694" cy="3996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450"/>
                </a:lnSpc>
                <a:buNone/>
              </a:pPr>
              <a:r>
                <a:rPr lang="en-US" sz="2400" b="1" dirty="0">
                  <a:solidFill>
                    <a:srgbClr val="333F70"/>
                  </a:solidFill>
                  <a:latin typeface="Amasis pro MT"/>
                  <a:ea typeface="Unbounded Bold" pitchFamily="34" charset="-122"/>
                  <a:cs typeface="Unbounded Bold" pitchFamily="34" charset="-120"/>
                </a:rPr>
                <a:t>Intelligent Research Assistant</a:t>
              </a:r>
              <a:endParaRPr lang="en-US" sz="2400" dirty="0">
                <a:latin typeface="Amasis pro MT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908447" y="3169558"/>
              <a:ext cx="4031694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Multimodal RAG: 530+ SCLC papers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908447" y="3563178"/>
              <a:ext cx="4031694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Text + medical image analysis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908447" y="3956799"/>
              <a:ext cx="4031694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Real-time ArXiv &amp; web integration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908447" y="4350420"/>
              <a:ext cx="4031694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Actionable clinical insights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165571" y="2664023"/>
              <a:ext cx="3894415" cy="3155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450"/>
                </a:lnSpc>
                <a:buNone/>
              </a:pPr>
              <a:r>
                <a:rPr lang="en-US" sz="2400" b="1" dirty="0">
                  <a:solidFill>
                    <a:srgbClr val="333F70"/>
                  </a:solidFill>
                  <a:latin typeface="Amasis pro MT"/>
                  <a:ea typeface="Unbounded Bold" pitchFamily="34" charset="-122"/>
                  <a:cs typeface="Unbounded Bold" pitchFamily="34" charset="-120"/>
                </a:rPr>
                <a:t>Precision Risk Prediction</a:t>
              </a:r>
            </a:p>
            <a:p>
              <a:pPr marL="0" indent="0" algn="ctr">
                <a:lnSpc>
                  <a:spcPts val="2450"/>
                </a:lnSpc>
                <a:buNone/>
              </a:pPr>
              <a:endParaRPr lang="en-US" sz="2400" b="1" dirty="0">
                <a:solidFill>
                  <a:srgbClr val="333F70"/>
                </a:solidFill>
                <a:latin typeface="Amasis pro MT"/>
                <a:ea typeface="Unbounded Bold" pitchFamily="34" charset="-122"/>
              </a:endParaRPr>
            </a:p>
            <a:p>
              <a:pPr marL="0" indent="0" algn="ctr">
                <a:lnSpc>
                  <a:spcPts val="2450"/>
                </a:lnSpc>
                <a:buNone/>
              </a:pPr>
              <a:endParaRPr lang="en-US" sz="2400" dirty="0">
                <a:latin typeface="Amasis pro MT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238393" y="3181350"/>
              <a:ext cx="4031694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ML risk stratification engine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5238393" y="3574971"/>
              <a:ext cx="4031694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Demographics, genomics, clinical data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238393" y="3968591"/>
              <a:ext cx="4031694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Similar patient cohort insights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5238393" y="4362212"/>
              <a:ext cx="4031694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Geospatial treatment center mapping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770150" y="2664024"/>
              <a:ext cx="4168735" cy="434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450"/>
                </a:lnSpc>
                <a:buNone/>
              </a:pPr>
              <a:r>
                <a:rPr lang="en-US" sz="2400" b="1" dirty="0">
                  <a:solidFill>
                    <a:srgbClr val="333F70"/>
                  </a:solidFill>
                  <a:latin typeface="Amasis pro MT"/>
                  <a:ea typeface="Unbounded Bold" pitchFamily="34" charset="-122"/>
                  <a:cs typeface="Unbounded Bold" pitchFamily="34" charset="-120"/>
                </a:rPr>
                <a:t>Molecular Subtype Classification</a:t>
              </a:r>
              <a:endParaRPr lang="en-US" sz="2400" dirty="0">
                <a:latin typeface="Amasis pro MT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770150" y="3168787"/>
              <a:ext cx="4168735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4 SCLC subtypes: N, P, A, Y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770150" y="3562407"/>
              <a:ext cx="4168735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Biomarker-driven analysis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9770150" y="3956028"/>
              <a:ext cx="4168735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Subtype-specific therapeutics</a:t>
              </a:r>
              <a:endParaRPr lang="en-US" dirty="0">
                <a:latin typeface="Amasis pro MT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9770150" y="4349649"/>
              <a:ext cx="4168735" cy="323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en-US" dirty="0">
                  <a:solidFill>
                    <a:srgbClr val="333F7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Downloadable clinical reports</a:t>
              </a:r>
              <a:endParaRPr lang="en-US" dirty="0">
                <a:latin typeface="Amasis pro MT"/>
              </a:endParaRPr>
            </a:p>
          </p:txBody>
        </p:sp>
      </p:grp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47" y="5610106"/>
            <a:ext cx="252293" cy="20181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1FC8A43-4159-1F51-B088-29B5A05B8E9B}"/>
              </a:ext>
            </a:extLst>
          </p:cNvPr>
          <p:cNvGrpSpPr/>
          <p:nvPr/>
        </p:nvGrpSpPr>
        <p:grpSpPr>
          <a:xfrm>
            <a:off x="706636" y="5033992"/>
            <a:ext cx="13217128" cy="1180743"/>
            <a:chOff x="706636" y="5298400"/>
            <a:chExt cx="13217128" cy="1180743"/>
          </a:xfrm>
        </p:grpSpPr>
        <p:sp>
          <p:nvSpPr>
            <p:cNvPr id="19" name="Shape 17"/>
            <p:cNvSpPr/>
            <p:nvPr/>
          </p:nvSpPr>
          <p:spPr>
            <a:xfrm>
              <a:off x="706636" y="5298400"/>
              <a:ext cx="13217128" cy="1180743"/>
            </a:xfrm>
            <a:prstGeom prst="roundRect">
              <a:avLst>
                <a:gd name="adj" fmla="val 7182"/>
              </a:avLst>
            </a:prstGeom>
            <a:solidFill>
              <a:srgbClr val="C1F1E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1362551" y="5550575"/>
              <a:ext cx="12359402" cy="64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b="1" dirty="0">
                  <a:solidFill>
                    <a:srgbClr val="00000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Technical Innovation:</a:t>
              </a:r>
              <a:r>
                <a:rPr lang="en-US" dirty="0">
                  <a:solidFill>
                    <a:srgbClr val="000000"/>
                  </a:solidFill>
                  <a:latin typeface="Amasis pro MT"/>
                  <a:ea typeface="Open Sans" pitchFamily="34" charset="-122"/>
                  <a:cs typeface="Open Sans" pitchFamily="34" charset="-120"/>
                </a:rPr>
                <a:t> 7 specialized AI agents | Multimodal embeddings (Snowflake Arctic + Voyage)  |  Real-time data pipelines | Modern BI | Product analytics</a:t>
              </a:r>
              <a:endParaRPr lang="en-US" dirty="0">
                <a:latin typeface="Amasis pro MT"/>
              </a:endParaRPr>
            </a:p>
          </p:txBody>
        </p:sp>
      </p:grpSp>
      <p:sp>
        <p:nvSpPr>
          <p:cNvPr id="22" name="Text 19"/>
          <p:cNvSpPr/>
          <p:nvPr/>
        </p:nvSpPr>
        <p:spPr>
          <a:xfrm>
            <a:off x="706636" y="6512051"/>
            <a:ext cx="13217128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0D9488"/>
                </a:solidFill>
                <a:latin typeface="Amasis pro MT"/>
                <a:ea typeface="Open Sans" pitchFamily="34" charset="-122"/>
                <a:cs typeface="Open Sans" pitchFamily="34" charset="-120"/>
              </a:rPr>
              <a:t>IMPACT:</a:t>
            </a:r>
            <a:r>
              <a:rPr lang="en-US" dirty="0">
                <a:solidFill>
                  <a:srgbClr val="333F70"/>
                </a:solidFill>
                <a:latin typeface="Amasis pro MT"/>
                <a:ea typeface="Open Sans" pitchFamily="34" charset="-122"/>
                <a:cs typeface="Open Sans" pitchFamily="34" charset="-120"/>
              </a:rPr>
              <a:t> Empowering clinicians and researchers with AI-assisted early detection, personalized treatment pathways, and evidence-based decision support</a:t>
            </a:r>
            <a:endParaRPr lang="en-US" dirty="0">
              <a:latin typeface="Amasis pro M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8E072-28C8-5722-837B-E413DB94D1FE}"/>
              </a:ext>
            </a:extLst>
          </p:cNvPr>
          <p:cNvSpPr/>
          <p:nvPr/>
        </p:nvSpPr>
        <p:spPr>
          <a:xfrm>
            <a:off x="12660198" y="7635711"/>
            <a:ext cx="1970202" cy="51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masis pro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3026" y="362607"/>
            <a:ext cx="117885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latin typeface="Amasis pro MT"/>
              </a:rPr>
              <a:t>SYSTEM ARCHITECTURE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B50B63-C0E1-855F-8660-BA6F4FD63778}"/>
              </a:ext>
            </a:extLst>
          </p:cNvPr>
          <p:cNvSpPr/>
          <p:nvPr/>
        </p:nvSpPr>
        <p:spPr>
          <a:xfrm>
            <a:off x="12660198" y="7635711"/>
            <a:ext cx="1970202" cy="51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52002B4C-F466-548E-0717-85E6401C8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1288741"/>
            <a:ext cx="12039601" cy="65782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227</Words>
  <Application>Microsoft Office PowerPoint</Application>
  <PresentationFormat>Custom</PresentationFormat>
  <Paragraphs>42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Amasis pro MT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Siddharth Pawar</cp:lastModifiedBy>
  <cp:revision>5</cp:revision>
  <dcterms:created xsi:type="dcterms:W3CDTF">2025-12-12T19:20:43Z</dcterms:created>
  <dcterms:modified xsi:type="dcterms:W3CDTF">2025-12-13T09:40:38Z</dcterms:modified>
</cp:coreProperties>
</file>